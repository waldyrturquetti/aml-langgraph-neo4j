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AML use case: projeto de estudo pessoal, dataset fictício. Três escolhas de arquitetura: grafo, orquestração com estado e LLM como intérprete de evidência.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Abertura: por que grafo, por que máquina de estados.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Isso motivou as três escolhas de arquitetura: Neo4j para o grafo, LangGraph para orquestrar decisão com estado, e um LLM para interpretar evidência — nunca para decidir sozinho.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LangChain resolve bem gerar texto em sequência. LangGraph resolve orquestrar uma decisão com estado, que pode ciclar, desviar e pausar — o formato de um processo de triagem.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Tudo roda local via Docker Compose: neo4j, dynamodb-local, dynamodb-admin. O LLM é plugável por variável de ambiente.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diagrama foi gerado direto do código, via draw_mermaid — não é desenho manual. São 8 nós.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dois comportamentos que justificam LangGraph em vez de uma chain, e o terceiro ponto, sobre testabilidade.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Alert é saída do workflow, não entrada — ele só existe depois que a triagem concluiu que o cliente deve ser sinalizado.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tipologia é uma consulta Cypher dedicada. Qualquer uma das quatro classifica o caso como high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 de virada do projeto: dos textos de template ao raciocínio sobre a mesma evidência.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Relatório 10: cust-207, fan-out. Modo estático. Repare que a descrição, a avaliação de risco e a análise trazem o mesmo texto de template; as observações são a evidência colada, sem interpretação.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Relatório 11: cust-129, LLM real com gpt-5. O modelo separa fatos de interpretação e nomeia a razão correta do alerta. O LLM não substitui a evidência: os dois alertas só existem porque uma consulta Cypher achou um padrão.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Quatro casos rodados de verdade, com LLM real ligado.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prompt instrui o modelo a só recomendar alerta com evidência concreta — nunca por ausência de informação ou especulação. Aqui ele segue a instrução mesmo tendo algo para comentar.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register_alert é idempotente: encontra o alerta existente e não duplica. O insight real já incorpora esse fato.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Contágio de risco por rede: estar perto de alguém já alertado é, por si, motivo de atenção. O número de saltos é configurável.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Requisito de compliance mais importante do projeto: um alerta de alto risco nunca é criado ou fechado sem confirmação humana explícita, e o sistema espera essa confirmação sem perder o estado da investigação.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Retomando com confirm-escalation, a execução continua de onde parou: não reprocessa evidência nem chama o LLM de novo. Os workflow_steps mostram analyst-reviewed no meio do caminho.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Última parte: o relatório como entregável, engenharia, qualidade e limites.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relatórios foram gerados: cust-207 (estático), cust-129 (proximidade) e cust-214 (fan-in com LLM real). Todos têm a mesma anatomia, saem inteiramente em português e são gerados só a partir do snapshot.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tabela sai do relatório de cust-214. Cada linha tem origem declarada — neo4j — e é o que sustenta a decisão. É o que o analista precisa para trabalhar o caso sem reabrir o pipeline.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relatório lê só o snapshot: nenhuma chamada nova a LLM ou Neo4j. Reprodutível e auditável, não sujeito a re-triagem ou drift. Falha ao salvar o snapshot não derruba a investigação.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contrato de resposta é um schema JSON estruturado, não texto livre — é isso que permite tratar a saída do LLM como dado confiável no resto do pipeline.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Trade-offs assumidos deliberadamente, não bugs. O dataset é fictício e pequeno de propósito.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direções de evolução, na ordem em que fariam mais diferença.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Recapitular em uma frase e abrir para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933450"/>
            <a:ext cx="190500" cy="190500"/>
          </a:xfrm>
          <a:prstGeom prst="roundRect">
            <a:avLst>
              <a:gd name="adj" fmla="val 20000"/>
            </a:avLst>
          </a:prstGeom>
          <a:solidFill>
            <a:srgbClr val="EC6F00"/>
          </a:solidFill>
          <a:ln/>
        </p:spPr>
      </p:sp>
      <p:sp>
        <p:nvSpPr>
          <p:cNvPr id="3" name="Text 1"/>
          <p:cNvSpPr/>
          <p:nvPr/>
        </p:nvSpPr>
        <p:spPr>
          <a:xfrm>
            <a:off x="1333500" y="914400"/>
            <a:ext cx="446603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spc="252" kern="0" dirty="0">
                <a:solidFill>
                  <a:srgbClr val="FF8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CASO DE USO - PLD · 2026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3275112"/>
            <a:ext cx="14912340" cy="2058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143"/>
              </a:lnSpc>
              <a:buNone/>
            </a:pPr>
            <a:r>
              <a:rPr lang="en-US" sz="7800" b="1" spc="-234" kern="0" dirty="0">
                <a:solidFill>
                  <a:srgbClr val="F5F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Triagem de alertas AML com LangGraph + Neo4j</a:t>
            </a:r>
            <a:endParaRPr lang="en-US" sz="7800" dirty="0"/>
          </a:p>
        </p:txBody>
      </p:sp>
      <p:sp>
        <p:nvSpPr>
          <p:cNvPr id="5" name="Text 3"/>
          <p:cNvSpPr/>
          <p:nvPr/>
        </p:nvSpPr>
        <p:spPr>
          <a:xfrm>
            <a:off x="952500" y="5638800"/>
            <a:ext cx="12263438" cy="11275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400"/>
              </a:lnSpc>
              <a:buNone/>
            </a:pPr>
            <a:r>
              <a:rPr lang="en-US" sz="3300" dirty="0">
                <a:solidFill>
                  <a:srgbClr val="B5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Grafos de transações, agentes com estado e LLMs aplicados à detecção de lavagem de dinheiro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952500" y="8860185"/>
            <a:ext cx="16383000" cy="9525"/>
          </a:xfrm>
          <a:prstGeom prst="rect">
            <a:avLst/>
          </a:prstGeom>
          <a:solidFill>
            <a:srgbClr val="3A3631"/>
          </a:solidFill>
          <a:ln/>
        </p:spPr>
      </p:sp>
      <p:sp>
        <p:nvSpPr>
          <p:cNvPr id="7" name="Text 5"/>
          <p:cNvSpPr/>
          <p:nvPr/>
        </p:nvSpPr>
        <p:spPr>
          <a:xfrm>
            <a:off x="952500" y="9136410"/>
            <a:ext cx="4408408" cy="426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615"/>
              </a:lnSpc>
              <a:buNone/>
            </a:pPr>
            <a:r>
              <a:rPr lang="en-US" sz="2550" dirty="0">
                <a:solidFill>
                  <a:srgbClr val="F5F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Waldyr Turquetti Gonçalves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1300371" y="9250710"/>
            <a:ext cx="6638642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1800" dirty="0">
                <a:solidFill>
                  <a:srgbClr val="B5AE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projeto de estudo pessoal · dataset fictício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510980"/>
            <a:ext cx="180213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spc="252" kern="0" dirty="0">
                <a:solidFill>
                  <a:srgbClr val="FF8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 01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4968180"/>
            <a:ext cx="14668500" cy="99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636"/>
              </a:lnSpc>
              <a:buNone/>
            </a:pPr>
            <a:r>
              <a:rPr lang="en-US" sz="7200" b="1" spc="-216" kern="0" dirty="0">
                <a:solidFill>
                  <a:srgbClr val="F5F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 e arquitetura</a:t>
            </a:r>
            <a:endParaRPr lang="en-US" sz="7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14400"/>
            <a:ext cx="180213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spc="252" kern="0" dirty="0">
                <a:solidFill>
                  <a:srgbClr val="B45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PROBLEMA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638300"/>
            <a:ext cx="14716125" cy="1354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405"/>
              </a:lnSpc>
              <a:buNone/>
            </a:pPr>
            <a:r>
              <a:rPr lang="en-US" sz="4800" b="1" spc="-96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risco de lavagem raramente está numa transação isolada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52500" y="3564434"/>
            <a:ext cx="561594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dirty="0">
                <a:solidFill>
                  <a:srgbClr val="B45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52500" y="3983534"/>
            <a:ext cx="5615940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600"/>
              </a:lnSpc>
              <a:buNone/>
            </a:pPr>
            <a:r>
              <a:rPr lang="en-US" sz="3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Informação espalhada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52500" y="4676924"/>
            <a:ext cx="5258562" cy="1398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051"/>
              </a:lnSpc>
              <a:buNone/>
            </a:pPr>
            <a:r>
              <a:rPr lang="en-US" sz="2550" dirty="0">
                <a:solidFill>
                  <a:srgbClr val="5A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analista cruza à mão transações, titularidade de contas e alertas já abertos para outras partes.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6591300" y="3564434"/>
            <a:ext cx="561594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dirty="0">
                <a:solidFill>
                  <a:srgbClr val="B45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591300" y="3983534"/>
            <a:ext cx="5615940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600"/>
              </a:lnSpc>
              <a:buNone/>
            </a:pPr>
            <a:r>
              <a:rPr lang="en-US" sz="3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padrão é de rede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6591300" y="4676924"/>
            <a:ext cx="5258562" cy="18514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051"/>
              </a:lnSpc>
              <a:buNone/>
            </a:pPr>
            <a:r>
              <a:rPr lang="en-US" sz="2550" dirty="0">
                <a:solidFill>
                  <a:srgbClr val="5A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ciclo de transferências, uma pulverização de valores parecidos, a proximidade com quem já foi alertado.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12230100" y="3564434"/>
            <a:ext cx="561594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dirty="0">
                <a:solidFill>
                  <a:srgbClr val="B45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230100" y="3983534"/>
            <a:ext cx="5258562" cy="104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600"/>
              </a:lnSpc>
              <a:buNone/>
            </a:pPr>
            <a:r>
              <a:rPr lang="en-US" sz="3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decisão não é automática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12230100" y="5179814"/>
            <a:ext cx="5258562" cy="1398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051"/>
              </a:lnSpc>
              <a:buNone/>
            </a:pPr>
            <a:r>
              <a:rPr lang="en-US" sz="2550" dirty="0">
                <a:solidFill>
                  <a:srgbClr val="5A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Exige evidência rastreável e, em alto risco, confirmação humana explícita.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52500" y="8656439"/>
            <a:ext cx="13335000" cy="1905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4" name="Text 12"/>
          <p:cNvSpPr/>
          <p:nvPr/>
        </p:nvSpPr>
        <p:spPr>
          <a:xfrm>
            <a:off x="952500" y="8980289"/>
            <a:ext cx="13735050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400"/>
              </a:lnSpc>
              <a:buNone/>
            </a:pPr>
            <a:r>
              <a:rPr lang="en-US" sz="33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assim são naturalmente um grafo, não uma tabela.</a:t>
            </a:r>
            <a:endParaRPr lang="en-US" sz="3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14400"/>
            <a:ext cx="180213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spc="252" kern="0" dirty="0">
                <a:solidFill>
                  <a:srgbClr val="B45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ESCOLHA DE FRAMEWORK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524000"/>
            <a:ext cx="18021300" cy="696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405"/>
              </a:lnSpc>
              <a:buNone/>
            </a:pPr>
            <a:r>
              <a:rPr lang="en-US" sz="4800" b="1" spc="-96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 vs. LangGraph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3054697"/>
            <a:ext cx="4733627" cy="1905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5" name="Shape 3"/>
          <p:cNvSpPr/>
          <p:nvPr/>
        </p:nvSpPr>
        <p:spPr>
          <a:xfrm>
            <a:off x="6067127" y="3054697"/>
            <a:ext cx="5443686" cy="1905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6" name="Text 4"/>
          <p:cNvSpPr/>
          <p:nvPr/>
        </p:nvSpPr>
        <p:spPr>
          <a:xfrm>
            <a:off x="6067127" y="2563267"/>
            <a:ext cx="5606997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87"/>
              </a:lnSpc>
              <a:buNone/>
            </a:pPr>
            <a:r>
              <a:rPr lang="en-US" sz="2100" spc="168" kern="0" dirty="0">
                <a:solidFill>
                  <a:srgbClr val="5A56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LANGCHAIN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11891814" y="3054697"/>
            <a:ext cx="5443538" cy="19050"/>
          </a:xfrm>
          <a:prstGeom prst="rect">
            <a:avLst/>
          </a:prstGeom>
          <a:solidFill>
            <a:srgbClr val="EC6F00"/>
          </a:solidFill>
          <a:ln/>
        </p:spPr>
      </p:sp>
      <p:sp>
        <p:nvSpPr>
          <p:cNvPr id="8" name="Text 6"/>
          <p:cNvSpPr/>
          <p:nvPr/>
        </p:nvSpPr>
        <p:spPr>
          <a:xfrm>
            <a:off x="11891814" y="2563267"/>
            <a:ext cx="5606844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87"/>
              </a:lnSpc>
              <a:buNone/>
            </a:pPr>
            <a:r>
              <a:rPr lang="en-US" sz="2100" spc="168" kern="0" dirty="0">
                <a:solidFill>
                  <a:srgbClr val="B45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LANGGRAPH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952500" y="3852863"/>
            <a:ext cx="4733627" cy="9525"/>
          </a:xfrm>
          <a:prstGeom prst="rect">
            <a:avLst/>
          </a:prstGeom>
          <a:solidFill>
            <a:srgbClr val="D7D1C9"/>
          </a:solidFill>
          <a:ln/>
        </p:spPr>
      </p:sp>
      <p:sp>
        <p:nvSpPr>
          <p:cNvPr id="10" name="Text 8"/>
          <p:cNvSpPr/>
          <p:nvPr/>
        </p:nvSpPr>
        <p:spPr>
          <a:xfrm>
            <a:off x="952500" y="3283297"/>
            <a:ext cx="4875636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50"/>
              </a:lnSpc>
              <a:buNone/>
            </a:pPr>
            <a:r>
              <a:rPr lang="en-US" sz="2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mental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6067127" y="3852863"/>
            <a:ext cx="5443686" cy="9525"/>
          </a:xfrm>
          <a:prstGeom prst="rect">
            <a:avLst/>
          </a:prstGeom>
          <a:solidFill>
            <a:srgbClr val="D7D1C9"/>
          </a:solidFill>
          <a:ln/>
        </p:spPr>
      </p:sp>
      <p:sp>
        <p:nvSpPr>
          <p:cNvPr id="12" name="Text 10"/>
          <p:cNvSpPr/>
          <p:nvPr/>
        </p:nvSpPr>
        <p:spPr>
          <a:xfrm>
            <a:off x="6067127" y="3283297"/>
            <a:ext cx="5606997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125"/>
              </a:lnSpc>
              <a:buNone/>
            </a:pPr>
            <a:r>
              <a:rPr lang="en-US" sz="2100" dirty="0">
                <a:solidFill>
                  <a:srgbClr val="5A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— sequência majoritariamente linear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11891814" y="3852863"/>
            <a:ext cx="5443538" cy="9525"/>
          </a:xfrm>
          <a:prstGeom prst="rect">
            <a:avLst/>
          </a:prstGeom>
          <a:solidFill>
            <a:srgbClr val="D7D1C9"/>
          </a:solidFill>
          <a:ln/>
        </p:spPr>
      </p:sp>
      <p:sp>
        <p:nvSpPr>
          <p:cNvPr id="14" name="Text 12"/>
          <p:cNvSpPr/>
          <p:nvPr/>
        </p:nvSpPr>
        <p:spPr>
          <a:xfrm>
            <a:off x="11891814" y="3283297"/>
            <a:ext cx="5606844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125"/>
              </a:lnSpc>
              <a:buNone/>
            </a:pPr>
            <a:r>
              <a:rPr lang="en-US" sz="21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Máquina de estados: nós e arestas explícitos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952500" y="5001518"/>
            <a:ext cx="4733627" cy="9525"/>
          </a:xfrm>
          <a:prstGeom prst="rect">
            <a:avLst/>
          </a:prstGeom>
          <a:solidFill>
            <a:srgbClr val="D7D1C9"/>
          </a:solidFill>
          <a:ln/>
        </p:spPr>
      </p:sp>
      <p:sp>
        <p:nvSpPr>
          <p:cNvPr id="16" name="Text 14"/>
          <p:cNvSpPr/>
          <p:nvPr/>
        </p:nvSpPr>
        <p:spPr>
          <a:xfrm>
            <a:off x="952500" y="4071938"/>
            <a:ext cx="4875636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50"/>
              </a:lnSpc>
              <a:buNone/>
            </a:pPr>
            <a:r>
              <a:rPr lang="en-US" sz="2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Ciclos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6067127" y="5001518"/>
            <a:ext cx="5443686" cy="9525"/>
          </a:xfrm>
          <a:prstGeom prst="rect">
            <a:avLst/>
          </a:prstGeom>
          <a:solidFill>
            <a:srgbClr val="D7D1C9"/>
          </a:solidFill>
          <a:ln/>
        </p:spPr>
      </p:sp>
      <p:sp>
        <p:nvSpPr>
          <p:cNvPr id="18" name="Text 16"/>
          <p:cNvSpPr/>
          <p:nvPr/>
        </p:nvSpPr>
        <p:spPr>
          <a:xfrm>
            <a:off x="6067127" y="4071938"/>
            <a:ext cx="5606997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125"/>
              </a:lnSpc>
              <a:buNone/>
            </a:pPr>
            <a:r>
              <a:rPr lang="en-US" sz="2100" dirty="0">
                <a:solidFill>
                  <a:srgbClr val="5A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Difícil de expressar nativamente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11891814" y="5001518"/>
            <a:ext cx="5443538" cy="9525"/>
          </a:xfrm>
          <a:prstGeom prst="rect">
            <a:avLst/>
          </a:prstGeom>
          <a:solidFill>
            <a:srgbClr val="D7D1C9"/>
          </a:solidFill>
          <a:ln/>
        </p:spPr>
      </p:sp>
      <p:sp>
        <p:nvSpPr>
          <p:cNvPr id="20" name="Text 18"/>
          <p:cNvSpPr/>
          <p:nvPr/>
        </p:nvSpPr>
        <p:spPr>
          <a:xfrm>
            <a:off x="11891814" y="4071938"/>
            <a:ext cx="5606844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125"/>
              </a:lnSpc>
              <a:buNone/>
            </a:pPr>
            <a:r>
              <a:rPr lang="en-US" sz="21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Nativo — voltar a um nó até a condição parar de valer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952500" y="5790158"/>
            <a:ext cx="4733627" cy="9525"/>
          </a:xfrm>
          <a:prstGeom prst="rect">
            <a:avLst/>
          </a:prstGeom>
          <a:solidFill>
            <a:srgbClr val="D7D1C9"/>
          </a:solidFill>
          <a:ln/>
        </p:spPr>
      </p:sp>
      <p:sp>
        <p:nvSpPr>
          <p:cNvPr id="22" name="Text 20"/>
          <p:cNvSpPr/>
          <p:nvPr/>
        </p:nvSpPr>
        <p:spPr>
          <a:xfrm>
            <a:off x="952500" y="5220593"/>
            <a:ext cx="4875636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50"/>
              </a:lnSpc>
              <a:buNone/>
            </a:pPr>
            <a:r>
              <a:rPr lang="en-US" sz="2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Decisão condicional em runtime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6067127" y="5790158"/>
            <a:ext cx="5443686" cy="9525"/>
          </a:xfrm>
          <a:prstGeom prst="rect">
            <a:avLst/>
          </a:prstGeom>
          <a:solidFill>
            <a:srgbClr val="D7D1C9"/>
          </a:solidFill>
          <a:ln/>
        </p:spPr>
      </p:sp>
      <p:sp>
        <p:nvSpPr>
          <p:cNvPr id="24" name="Text 22"/>
          <p:cNvSpPr/>
          <p:nvPr/>
        </p:nvSpPr>
        <p:spPr>
          <a:xfrm>
            <a:off x="6067127" y="5220593"/>
            <a:ext cx="5606997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125"/>
              </a:lnSpc>
              <a:buNone/>
            </a:pPr>
            <a:r>
              <a:rPr lang="en-US" sz="2100" dirty="0">
                <a:solidFill>
                  <a:srgbClr val="5A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 lógica externa ao framework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11891814" y="5790158"/>
            <a:ext cx="5443538" cy="9525"/>
          </a:xfrm>
          <a:prstGeom prst="rect">
            <a:avLst/>
          </a:prstGeom>
          <a:solidFill>
            <a:srgbClr val="D7D1C9"/>
          </a:solidFill>
          <a:ln/>
        </p:spPr>
      </p:sp>
      <p:sp>
        <p:nvSpPr>
          <p:cNvPr id="26" name="Text 24"/>
          <p:cNvSpPr/>
          <p:nvPr/>
        </p:nvSpPr>
        <p:spPr>
          <a:xfrm>
            <a:off x="11891814" y="5220593"/>
            <a:ext cx="5606844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125"/>
              </a:lnSpc>
              <a:buNone/>
            </a:pPr>
            <a:r>
              <a:rPr lang="en-US" sz="21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Aresta condicional de primeira classe</a:t>
            </a:r>
            <a:endParaRPr lang="en-US" sz="2100" dirty="0"/>
          </a:p>
        </p:txBody>
      </p:sp>
      <p:sp>
        <p:nvSpPr>
          <p:cNvPr id="27" name="Shape 25"/>
          <p:cNvSpPr/>
          <p:nvPr/>
        </p:nvSpPr>
        <p:spPr>
          <a:xfrm>
            <a:off x="952500" y="6578798"/>
            <a:ext cx="4733627" cy="9525"/>
          </a:xfrm>
          <a:prstGeom prst="rect">
            <a:avLst/>
          </a:prstGeom>
          <a:solidFill>
            <a:srgbClr val="D7D1C9"/>
          </a:solidFill>
          <a:ln/>
        </p:spPr>
      </p:sp>
      <p:sp>
        <p:nvSpPr>
          <p:cNvPr id="28" name="Text 26"/>
          <p:cNvSpPr/>
          <p:nvPr/>
        </p:nvSpPr>
        <p:spPr>
          <a:xfrm>
            <a:off x="952500" y="6009233"/>
            <a:ext cx="4875636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50"/>
              </a:lnSpc>
              <a:buNone/>
            </a:pPr>
            <a:r>
              <a:rPr lang="en-US" sz="2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Pausar e retomar no meio</a:t>
            </a:r>
            <a:endParaRPr lang="en-US" sz="2100" dirty="0"/>
          </a:p>
        </p:txBody>
      </p:sp>
      <p:sp>
        <p:nvSpPr>
          <p:cNvPr id="29" name="Shape 27"/>
          <p:cNvSpPr/>
          <p:nvPr/>
        </p:nvSpPr>
        <p:spPr>
          <a:xfrm>
            <a:off x="6067127" y="6578798"/>
            <a:ext cx="5443686" cy="9525"/>
          </a:xfrm>
          <a:prstGeom prst="rect">
            <a:avLst/>
          </a:prstGeom>
          <a:solidFill>
            <a:srgbClr val="D7D1C9"/>
          </a:solidFill>
          <a:ln/>
        </p:spPr>
      </p:sp>
      <p:sp>
        <p:nvSpPr>
          <p:cNvPr id="30" name="Text 28"/>
          <p:cNvSpPr/>
          <p:nvPr/>
        </p:nvSpPr>
        <p:spPr>
          <a:xfrm>
            <a:off x="6067127" y="6009233"/>
            <a:ext cx="5606997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125"/>
              </a:lnSpc>
              <a:buNone/>
            </a:pPr>
            <a:r>
              <a:rPr lang="en-US" sz="2100" dirty="0">
                <a:solidFill>
                  <a:srgbClr val="5A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é o caso de uso principal</a:t>
            </a:r>
            <a:endParaRPr lang="en-US" sz="2100" dirty="0"/>
          </a:p>
        </p:txBody>
      </p:sp>
      <p:sp>
        <p:nvSpPr>
          <p:cNvPr id="31" name="Shape 29"/>
          <p:cNvSpPr/>
          <p:nvPr/>
        </p:nvSpPr>
        <p:spPr>
          <a:xfrm>
            <a:off x="11891814" y="6578798"/>
            <a:ext cx="5443538" cy="9525"/>
          </a:xfrm>
          <a:prstGeom prst="rect">
            <a:avLst/>
          </a:prstGeom>
          <a:solidFill>
            <a:srgbClr val="D7D1C9"/>
          </a:solidFill>
          <a:ln/>
        </p:spPr>
      </p:sp>
      <p:sp>
        <p:nvSpPr>
          <p:cNvPr id="32" name="Text 30"/>
          <p:cNvSpPr/>
          <p:nvPr/>
        </p:nvSpPr>
        <p:spPr>
          <a:xfrm>
            <a:off x="11891814" y="6009233"/>
            <a:ext cx="5606844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125"/>
              </a:lnSpc>
              <a:buNone/>
            </a:pPr>
            <a:r>
              <a:rPr lang="en-US" sz="21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Nativo, via checkpoint e interrupt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952500" y="6797873"/>
            <a:ext cx="4875636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50"/>
              </a:lnSpc>
              <a:buNone/>
            </a:pPr>
            <a:r>
              <a:rPr lang="en-US" sz="2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Observabilidade do fluxo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6067127" y="6797873"/>
            <a:ext cx="5606997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125"/>
              </a:lnSpc>
              <a:buNone/>
            </a:pPr>
            <a:r>
              <a:rPr lang="en-US" sz="2100" dirty="0">
                <a:solidFill>
                  <a:srgbClr val="5A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Implícita no código</a:t>
            </a:r>
            <a:endParaRPr lang="en-US" sz="2100" dirty="0"/>
          </a:p>
        </p:txBody>
      </p:sp>
      <p:sp>
        <p:nvSpPr>
          <p:cNvPr id="35" name="Text 33"/>
          <p:cNvSpPr/>
          <p:nvPr/>
        </p:nvSpPr>
        <p:spPr>
          <a:xfrm>
            <a:off x="11891814" y="6797873"/>
            <a:ext cx="5606844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125"/>
              </a:lnSpc>
              <a:buNone/>
            </a:pPr>
            <a:r>
              <a:rPr lang="en-US" sz="21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Grafo explícito, exportável e visualizável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14400"/>
            <a:ext cx="180213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spc="252" kern="0" dirty="0">
                <a:solidFill>
                  <a:srgbClr val="B45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ARQUITETURA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638300"/>
            <a:ext cx="18021300" cy="696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405"/>
              </a:lnSpc>
              <a:buNone/>
            </a:pPr>
            <a:r>
              <a:rPr lang="en-US" sz="4800" b="1" spc="-96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Visão geral dos componentes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2998440"/>
            <a:ext cx="3991421" cy="2210544"/>
          </a:xfrm>
          <a:prstGeom prst="roundRect">
            <a:avLst>
              <a:gd name="adj" fmla="val 4309"/>
            </a:avLst>
          </a:prstGeom>
          <a:solidFill>
            <a:srgbClr val="FFFFFF"/>
          </a:solidFill>
          <a:ln w="19050">
            <a:solidFill>
              <a:srgbClr val="12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14450" y="3341340"/>
            <a:ext cx="3594274" cy="4542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628"/>
              </a:lnSpc>
              <a:buNone/>
            </a:pPr>
            <a:r>
              <a:rPr lang="en-US" sz="28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Neo4j 5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314450" y="3871764"/>
            <a:ext cx="3365547" cy="10324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889"/>
              </a:lnSpc>
              <a:buNone/>
            </a:pPr>
            <a:r>
              <a:rPr lang="en-US" sz="1800" dirty="0">
                <a:solidFill>
                  <a:srgbClr val="5A56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 / Account / Alert grafo transacional vivo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217356" y="3709392"/>
            <a:ext cx="1357982" cy="31239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06667"/>
              </a:lnSpc>
              <a:buNone/>
            </a:pPr>
            <a:r>
              <a:rPr lang="en-US" sz="1800" dirty="0">
                <a:solidFill>
                  <a:srgbClr val="5A56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Cypher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77321" y="4078932"/>
            <a:ext cx="9144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300" dirty="0">
                <a:solidFill>
                  <a:srgbClr val="EC6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←→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6848921" y="3164086"/>
            <a:ext cx="4590008" cy="1879104"/>
          </a:xfrm>
          <a:prstGeom prst="roundRect">
            <a:avLst>
              <a:gd name="adj" fmla="val 5069"/>
            </a:avLst>
          </a:prstGeom>
          <a:solidFill>
            <a:srgbClr val="141414"/>
          </a:solidFill>
          <a:ln w="19050">
            <a:solidFill>
              <a:srgbClr val="14141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10871" y="3506986"/>
            <a:ext cx="4252719" cy="4542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628"/>
              </a:lnSpc>
              <a:buNone/>
            </a:pPr>
            <a:r>
              <a:rPr lang="en-US" sz="2850" b="1" dirty="0">
                <a:solidFill>
                  <a:srgbClr val="F5F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LangGraph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7210871" y="4037409"/>
            <a:ext cx="3982091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889"/>
              </a:lnSpc>
              <a:buNone/>
            </a:pPr>
            <a:r>
              <a:rPr lang="en-US" sz="1800" dirty="0">
                <a:solidFill>
                  <a:srgbClr val="B5AE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StateGraph: ciclos, condicionais, interrupt()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637050" y="3709392"/>
            <a:ext cx="1508760" cy="31239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06667"/>
              </a:lnSpc>
              <a:buNone/>
            </a:pPr>
            <a:r>
              <a:rPr lang="en-US" sz="1800" dirty="0">
                <a:solidFill>
                  <a:srgbClr val="5A56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insight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972330" y="4078932"/>
            <a:ext cx="9144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300" dirty="0">
                <a:solidFill>
                  <a:srgbClr val="EC6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←→</a:t>
            </a:r>
            <a:endParaRPr lang="en-US" sz="3300" dirty="0"/>
          </a:p>
        </p:txBody>
      </p:sp>
      <p:sp>
        <p:nvSpPr>
          <p:cNvPr id="14" name="Shape 12"/>
          <p:cNvSpPr/>
          <p:nvPr/>
        </p:nvSpPr>
        <p:spPr>
          <a:xfrm>
            <a:off x="13343930" y="3164086"/>
            <a:ext cx="3991421" cy="1879104"/>
          </a:xfrm>
          <a:prstGeom prst="roundRect">
            <a:avLst>
              <a:gd name="adj" fmla="val 5069"/>
            </a:avLst>
          </a:prstGeom>
          <a:solidFill>
            <a:srgbClr val="FFFFFF"/>
          </a:solidFill>
          <a:ln w="19050">
            <a:solidFill>
              <a:srgbClr val="12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705880" y="3506986"/>
            <a:ext cx="3594274" cy="4542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628"/>
              </a:lnSpc>
              <a:buNone/>
            </a:pPr>
            <a:r>
              <a:rPr lang="en-US" sz="28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plugável</a:t>
            </a:r>
            <a:endParaRPr lang="en-US" sz="2850" dirty="0"/>
          </a:p>
        </p:txBody>
      </p:sp>
      <p:sp>
        <p:nvSpPr>
          <p:cNvPr id="16" name="Text 14"/>
          <p:cNvSpPr/>
          <p:nvPr/>
        </p:nvSpPr>
        <p:spPr>
          <a:xfrm>
            <a:off x="13705880" y="4037409"/>
            <a:ext cx="3365547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889"/>
              </a:lnSpc>
              <a:buNone/>
            </a:pPr>
            <a:r>
              <a:rPr lang="en-US" sz="1800" dirty="0">
                <a:solidFill>
                  <a:srgbClr val="5A56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Anthropic Claude OpenAI gpt-5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848921" y="5693569"/>
            <a:ext cx="2857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300" dirty="0">
                <a:solidFill>
                  <a:srgbClr val="EC6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3300" dirty="0"/>
          </a:p>
        </p:txBody>
      </p:sp>
      <p:sp>
        <p:nvSpPr>
          <p:cNvPr id="18" name="Text 16"/>
          <p:cNvSpPr/>
          <p:nvPr/>
        </p:nvSpPr>
        <p:spPr>
          <a:xfrm>
            <a:off x="7229921" y="5606058"/>
            <a:ext cx="4335278" cy="632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56"/>
              </a:lnSpc>
              <a:buNone/>
            </a:pPr>
            <a:r>
              <a:rPr lang="en-US" sz="1800" dirty="0">
                <a:solidFill>
                  <a:srgbClr val="5A56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snapshot na criação do alerta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848921" y="6597402"/>
            <a:ext cx="4590008" cy="1879104"/>
          </a:xfrm>
          <a:prstGeom prst="roundRect">
            <a:avLst>
              <a:gd name="adj" fmla="val 5069"/>
            </a:avLst>
          </a:prstGeom>
          <a:solidFill>
            <a:srgbClr val="FDEADB"/>
          </a:solidFill>
          <a:ln w="19050">
            <a:solidFill>
              <a:srgbClr val="EC6F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10871" y="6940302"/>
            <a:ext cx="4252719" cy="4542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628"/>
              </a:lnSpc>
              <a:buNone/>
            </a:pPr>
            <a:r>
              <a:rPr lang="en-US" sz="28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DynamoDB Local</a:t>
            </a:r>
            <a:endParaRPr lang="en-US" sz="2850" dirty="0"/>
          </a:p>
        </p:txBody>
      </p:sp>
      <p:sp>
        <p:nvSpPr>
          <p:cNvPr id="21" name="Text 19"/>
          <p:cNvSpPr/>
          <p:nvPr/>
        </p:nvSpPr>
        <p:spPr>
          <a:xfrm>
            <a:off x="7210871" y="7470725"/>
            <a:ext cx="3982091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889"/>
              </a:lnSpc>
              <a:buNone/>
            </a:pPr>
            <a:r>
              <a:rPr lang="en-US" sz="1800" dirty="0">
                <a:solidFill>
                  <a:srgbClr val="5A56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snapshot imutável: evidência + insight + risco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598920" y="7005489"/>
            <a:ext cx="1585020" cy="5866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06667"/>
              </a:lnSpc>
              <a:buNone/>
            </a:pPr>
            <a:r>
              <a:rPr lang="en-US" sz="1800" dirty="0">
                <a:solidFill>
                  <a:srgbClr val="5A56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leitura offline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181880" y="7649319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300" dirty="0">
                <a:solidFill>
                  <a:srgbClr val="EC6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300" dirty="0"/>
          </a:p>
        </p:txBody>
      </p:sp>
      <p:sp>
        <p:nvSpPr>
          <p:cNvPr id="24" name="Shape 22"/>
          <p:cNvSpPr/>
          <p:nvPr/>
        </p:nvSpPr>
        <p:spPr>
          <a:xfrm>
            <a:off x="13343930" y="6597402"/>
            <a:ext cx="3991421" cy="1879104"/>
          </a:xfrm>
          <a:prstGeom prst="roundRect">
            <a:avLst>
              <a:gd name="adj" fmla="val 5069"/>
            </a:avLst>
          </a:prstGeom>
          <a:solidFill>
            <a:srgbClr val="FFFFFF"/>
          </a:solidFill>
          <a:ln w="19050">
            <a:solidFill>
              <a:srgbClr val="D7D1C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705880" y="6940302"/>
            <a:ext cx="3594274" cy="4542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628"/>
              </a:lnSpc>
              <a:buNone/>
            </a:pPr>
            <a:r>
              <a:rPr lang="en-US" sz="28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 .md</a:t>
            </a:r>
            <a:endParaRPr lang="en-US" sz="2850" dirty="0"/>
          </a:p>
        </p:txBody>
      </p:sp>
      <p:sp>
        <p:nvSpPr>
          <p:cNvPr id="26" name="Text 24"/>
          <p:cNvSpPr/>
          <p:nvPr/>
        </p:nvSpPr>
        <p:spPr>
          <a:xfrm>
            <a:off x="13705880" y="7470725"/>
            <a:ext cx="3365547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889"/>
              </a:lnSpc>
              <a:buNone/>
            </a:pPr>
            <a:r>
              <a:rPr lang="en-US" sz="1800" dirty="0">
                <a:solidFill>
                  <a:srgbClr val="5A56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pt-BR, com a consulta Cypher do caso pronta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52500" y="9178379"/>
            <a:ext cx="18021300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419"/>
              </a:lnSpc>
              <a:buNone/>
            </a:pPr>
            <a:r>
              <a:rPr lang="en-US" sz="2100" dirty="0">
                <a:solidFill>
                  <a:srgbClr val="5A56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Tudo local, via Docker Compose: neo4j · dynamodb-local · dynamodb-admin</a:t>
            </a:r>
            <a:endParaRPr lang="en-US" sz="2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14400"/>
            <a:ext cx="180213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spc="252" kern="0" dirty="0">
                <a:solidFill>
                  <a:srgbClr val="B45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GRAFO REAL DO PROJETO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638300"/>
            <a:ext cx="18021300" cy="696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405"/>
              </a:lnSpc>
              <a:buNone/>
            </a:pPr>
            <a:r>
              <a:rPr lang="en-US" sz="4800" b="1" spc="-96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Oito nós, um ciclo e uma pausa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2991892"/>
            <a:ext cx="1123950" cy="552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7D1C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71575" y="3153817"/>
            <a:ext cx="7620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dirty="0">
                <a:solidFill>
                  <a:srgbClr val="5A56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247900" y="3115717"/>
            <a:ext cx="381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486"/>
              </a:lnSpc>
              <a:buNone/>
            </a:pPr>
            <a:r>
              <a:rPr lang="en-US" sz="2400" dirty="0">
                <a:solidFill>
                  <a:srgbClr val="EC6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724150" y="2944267"/>
            <a:ext cx="2095500" cy="647700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12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71800" y="3134767"/>
            <a:ext cx="16764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323"/>
              </a:lnSpc>
              <a:buNone/>
            </a:pPr>
            <a:r>
              <a:rPr lang="en-US" sz="210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initialize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4991100" y="3115717"/>
            <a:ext cx="381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486"/>
              </a:lnSpc>
              <a:buNone/>
            </a:pPr>
            <a:r>
              <a:rPr lang="en-US" sz="2400" dirty="0">
                <a:solidFill>
                  <a:srgbClr val="EC6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67350" y="2944267"/>
            <a:ext cx="1455539" cy="647700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123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15000" y="3134767"/>
            <a:ext cx="103643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323"/>
              </a:lnSpc>
              <a:buNone/>
            </a:pPr>
            <a:r>
              <a:rPr lang="en-US" sz="210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enrich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7094339" y="3115717"/>
            <a:ext cx="381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486"/>
              </a:lnSpc>
              <a:buNone/>
            </a:pPr>
            <a:r>
              <a:rPr lang="en-US" sz="2400" dirty="0">
                <a:solidFill>
                  <a:srgbClr val="EC6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7570589" y="2944267"/>
            <a:ext cx="1775520" cy="647700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123A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18239" y="3134767"/>
            <a:ext cx="135642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323"/>
              </a:lnSpc>
              <a:buNone/>
            </a:pPr>
            <a:r>
              <a:rPr lang="en-US" sz="210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insights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9517559" y="3115717"/>
            <a:ext cx="381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486"/>
              </a:lnSpc>
              <a:buNone/>
            </a:pPr>
            <a:r>
              <a:rPr lang="en-US" sz="2400" dirty="0">
                <a:solidFill>
                  <a:srgbClr val="EC6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993809" y="2944267"/>
            <a:ext cx="2735610" cy="647700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123A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41459" y="3134767"/>
            <a:ext cx="232237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323"/>
              </a:lnSpc>
              <a:buNone/>
            </a:pPr>
            <a:r>
              <a:rPr lang="en-US" sz="210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register_alert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2900868" y="3115717"/>
            <a:ext cx="381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486"/>
              </a:lnSpc>
              <a:buNone/>
            </a:pPr>
            <a:r>
              <a:rPr lang="en-US" sz="2400" dirty="0">
                <a:solidFill>
                  <a:srgbClr val="EC6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13377118" y="2944267"/>
            <a:ext cx="2255639" cy="647700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123A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624768" y="3134767"/>
            <a:ext cx="183653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323"/>
              </a:lnSpc>
              <a:buNone/>
            </a:pPr>
            <a:r>
              <a:rPr lang="en-US" sz="210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assess_risk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3619500" y="4087267"/>
            <a:ext cx="31447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486"/>
              </a:lnSpc>
              <a:buNone/>
            </a:pPr>
            <a:r>
              <a:rPr lang="en-US" sz="2400" dirty="0">
                <a:solidFill>
                  <a:srgbClr val="12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4029224" y="3915817"/>
            <a:ext cx="2415629" cy="647700"/>
          </a:xfrm>
          <a:prstGeom prst="roundRect">
            <a:avLst>
              <a:gd name="adj" fmla="val 14706"/>
            </a:avLst>
          </a:prstGeom>
          <a:solidFill>
            <a:srgbClr val="E4EBF4"/>
          </a:solidFill>
          <a:ln w="19050">
            <a:solidFill>
              <a:srgbClr val="123A6B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4276874" y="4106317"/>
            <a:ext cx="199652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323"/>
              </a:lnSpc>
              <a:buNone/>
            </a:pPr>
            <a:r>
              <a:rPr lang="en-US" sz="210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widen_search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6616303" y="4085332"/>
            <a:ext cx="8574688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5A56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evidência insuficiente → hop_radius += 1 → volta a enrich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1430000" y="4887367"/>
            <a:ext cx="2286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486"/>
              </a:lnSpc>
              <a:buNone/>
            </a:pPr>
            <a:r>
              <a:rPr lang="en-US" sz="2400" dirty="0">
                <a:solidFill>
                  <a:srgbClr val="EC6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876300" y="5516017"/>
            <a:ext cx="2457450" cy="1272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5A56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risco high: cycle · structuring · proximity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505200" y="5980658"/>
            <a:ext cx="381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486"/>
              </a:lnSpc>
              <a:buNone/>
            </a:pPr>
            <a:r>
              <a:rPr lang="en-US" sz="2400" dirty="0">
                <a:solidFill>
                  <a:srgbClr val="EC6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3981450" y="5809208"/>
            <a:ext cx="4655939" cy="647700"/>
          </a:xfrm>
          <a:prstGeom prst="roundRect">
            <a:avLst>
              <a:gd name="adj" fmla="val 14706"/>
            </a:avLst>
          </a:prstGeom>
          <a:solidFill>
            <a:srgbClr val="FDEADB"/>
          </a:solidFill>
          <a:ln w="19050">
            <a:solidFill>
              <a:srgbClr val="EC6F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29100" y="5999708"/>
            <a:ext cx="430031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323"/>
              </a:lnSpc>
              <a:buNone/>
            </a:pPr>
            <a:r>
              <a:rPr lang="en-US" sz="210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human_review · interrupt()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8808839" y="5980658"/>
            <a:ext cx="381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486"/>
              </a:lnSpc>
              <a:buNone/>
            </a:pPr>
            <a:r>
              <a:rPr lang="en-US" sz="2400" dirty="0">
                <a:solidFill>
                  <a:srgbClr val="EC6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31" name="Shape 29"/>
          <p:cNvSpPr/>
          <p:nvPr/>
        </p:nvSpPr>
        <p:spPr>
          <a:xfrm>
            <a:off x="9285089" y="5809208"/>
            <a:ext cx="1455539" cy="647700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123A6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532739" y="5999708"/>
            <a:ext cx="103643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323"/>
              </a:lnSpc>
              <a:buNone/>
            </a:pPr>
            <a:r>
              <a:rPr lang="en-US" sz="210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10912078" y="5980658"/>
            <a:ext cx="381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486"/>
              </a:lnSpc>
              <a:buNone/>
            </a:pPr>
            <a:r>
              <a:rPr lang="en-US" sz="2400" dirty="0">
                <a:solidFill>
                  <a:srgbClr val="EC6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34" name="Shape 32"/>
          <p:cNvSpPr/>
          <p:nvPr/>
        </p:nvSpPr>
        <p:spPr>
          <a:xfrm>
            <a:off x="11388328" y="5856833"/>
            <a:ext cx="849660" cy="552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7D1C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607403" y="6018758"/>
            <a:ext cx="48771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dirty="0">
                <a:solidFill>
                  <a:srgbClr val="5A56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2638038" y="5824538"/>
            <a:ext cx="2549835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5A56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elevated ou low: direto para review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14400"/>
            <a:ext cx="180213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spc="252" kern="0" dirty="0">
                <a:solidFill>
                  <a:srgbClr val="B45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 QUE MÁQUINA DE ESTADOS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638300"/>
            <a:ext cx="15716250" cy="696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405"/>
              </a:lnSpc>
              <a:buNone/>
            </a:pPr>
            <a:r>
              <a:rPr lang="en-US" sz="4800" b="1" spc="-96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propriedades que uma chain linear não entrega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2906167"/>
            <a:ext cx="16383000" cy="9525"/>
          </a:xfrm>
          <a:prstGeom prst="rect">
            <a:avLst/>
          </a:prstGeom>
          <a:solidFill>
            <a:srgbClr val="D7D1C9"/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3258592"/>
            <a:ext cx="333565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200"/>
              </a:lnSpc>
              <a:buNone/>
            </a:pPr>
            <a:r>
              <a:rPr lang="en-US" sz="3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 real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4724400" y="3258592"/>
            <a:ext cx="12989433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051"/>
              </a:lnSpc>
              <a:buNone/>
            </a:pPr>
            <a:r>
              <a:rPr lang="en-US" sz="2550" dirty="0">
                <a:solidFill>
                  <a:srgbClr val="5A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Evidência insuficiente amplia o raio de busca no Neo4j — </a:t>
            </a:r>
            <a:pPr algn="l" indent="0" marL="0">
              <a:lnSpc>
                <a:spcPct val="122051"/>
              </a:lnSpc>
              <a:buNone/>
            </a:pPr>
            <a:r>
              <a:rPr lang="en-US" sz="22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enrich ↔ widen_search </a:t>
            </a:r>
            <a:pPr algn="l" indent="0" marL="0">
              <a:lnSpc>
                <a:spcPct val="122051"/>
              </a:lnSpc>
              <a:buNone/>
            </a:pPr>
            <a:r>
              <a:rPr lang="en-US" sz="2550" dirty="0">
                <a:solidFill>
                  <a:srgbClr val="5A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até satisfazer um mínimo ou esgotar o orçamento de tentativas.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52500" y="4508153"/>
            <a:ext cx="16383000" cy="9525"/>
          </a:xfrm>
          <a:prstGeom prst="rect">
            <a:avLst/>
          </a:prstGeom>
          <a:solidFill>
            <a:srgbClr val="D7D1C9"/>
          </a:solidFill>
          <a:ln/>
        </p:spPr>
      </p:sp>
      <p:sp>
        <p:nvSpPr>
          <p:cNvPr id="8" name="Text 6"/>
          <p:cNvSpPr/>
          <p:nvPr/>
        </p:nvSpPr>
        <p:spPr>
          <a:xfrm>
            <a:off x="952500" y="4860578"/>
            <a:ext cx="333565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200"/>
              </a:lnSpc>
              <a:buNone/>
            </a:pPr>
            <a:r>
              <a:rPr lang="en-US" sz="3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 real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4724400" y="4860578"/>
            <a:ext cx="12989433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051"/>
              </a:lnSpc>
              <a:buNone/>
            </a:pPr>
            <a:r>
              <a:rPr lang="en-US" sz="2550" dirty="0">
                <a:solidFill>
                  <a:srgbClr val="5A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Só o risco </a:t>
            </a:r>
            <a:pPr algn="l" indent="0" marL="0">
              <a:lnSpc>
                <a:spcPct val="122051"/>
              </a:lnSpc>
              <a:buNone/>
            </a:pPr>
            <a:r>
              <a:rPr lang="en-US" sz="22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 </a:t>
            </a:r>
            <a:pPr algn="l" indent="0" marL="0">
              <a:lnSpc>
                <a:spcPct val="122051"/>
              </a:lnSpc>
              <a:buNone/>
            </a:pPr>
            <a:r>
              <a:rPr lang="en-US" sz="2550" dirty="0">
                <a:solidFill>
                  <a:srgbClr val="5A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percorre </a:t>
            </a:r>
            <a:pPr algn="l" indent="0" marL="0">
              <a:lnSpc>
                <a:spcPct val="122051"/>
              </a:lnSpc>
              <a:buNone/>
            </a:pPr>
            <a:r>
              <a:rPr lang="en-US" sz="22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human_review </a:t>
            </a:r>
            <a:pPr algn="l" indent="0" marL="0">
              <a:lnSpc>
                <a:spcPct val="122051"/>
              </a:lnSpc>
              <a:buNone/>
            </a:pPr>
            <a:r>
              <a:rPr lang="en-US" sz="2550" dirty="0">
                <a:solidFill>
                  <a:srgbClr val="5A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e lá dentro a execução para de verdade, esperando decisão humana.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52500" y="7769275"/>
            <a:ext cx="16383000" cy="9525"/>
          </a:xfrm>
          <a:prstGeom prst="rect">
            <a:avLst/>
          </a:prstGeom>
          <a:solidFill>
            <a:srgbClr val="D7D1C9"/>
          </a:solidFill>
          <a:ln/>
        </p:spPr>
      </p:sp>
      <p:sp>
        <p:nvSpPr>
          <p:cNvPr id="11" name="Shape 9"/>
          <p:cNvSpPr/>
          <p:nvPr/>
        </p:nvSpPr>
        <p:spPr>
          <a:xfrm>
            <a:off x="952500" y="6110139"/>
            <a:ext cx="16383000" cy="9525"/>
          </a:xfrm>
          <a:prstGeom prst="rect">
            <a:avLst/>
          </a:prstGeom>
          <a:solidFill>
            <a:srgbClr val="D7D1C9"/>
          </a:solidFill>
          <a:ln/>
        </p:spPr>
      </p:sp>
      <p:sp>
        <p:nvSpPr>
          <p:cNvPr id="12" name="Text 10"/>
          <p:cNvSpPr/>
          <p:nvPr/>
        </p:nvSpPr>
        <p:spPr>
          <a:xfrm>
            <a:off x="952500" y="6462564"/>
            <a:ext cx="3335655" cy="10019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200"/>
              </a:lnSpc>
              <a:buNone/>
            </a:pPr>
            <a:r>
              <a:rPr lang="en-US" sz="3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Mesma lógica, dois motores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4724400" y="6462564"/>
            <a:ext cx="12989433" cy="10019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051"/>
              </a:lnSpc>
              <a:buNone/>
            </a:pPr>
            <a:r>
              <a:rPr lang="en-US" sz="2550" dirty="0">
                <a:solidFill>
                  <a:srgbClr val="5A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mesmas funções de nó rodam como grafo em produção e como cadeia linear nos testes — a regra de negócio é testável isolada do motor de execução.</a:t>
            </a:r>
            <a:endParaRPr lang="en-US" sz="2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14400"/>
            <a:ext cx="180213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spc="252" kern="0" dirty="0">
                <a:solidFill>
                  <a:srgbClr val="B45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NEO4J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638300"/>
            <a:ext cx="18021300" cy="696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405"/>
              </a:lnSpc>
              <a:buNone/>
            </a:pPr>
            <a:r>
              <a:rPr lang="en-US" sz="4800" b="1" spc="-96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dados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2868067"/>
            <a:ext cx="2089547" cy="125908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2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25213" y="3153817"/>
            <a:ext cx="1544122" cy="394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897"/>
              </a:lnSpc>
              <a:buNone/>
            </a:pPr>
            <a:r>
              <a:rPr lang="en-US" sz="25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25213" y="3567113"/>
            <a:ext cx="1544122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6667"/>
              </a:lnSpc>
              <a:buNone/>
            </a:pPr>
            <a:r>
              <a:rPr lang="en-US" sz="1800" dirty="0">
                <a:solidFill>
                  <a:srgbClr val="5A56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cust-214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32547" y="3192810"/>
            <a:ext cx="62492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dirty="0">
                <a:solidFill>
                  <a:srgbClr val="12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OWNS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344912" y="3478560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179"/>
              </a:lnSpc>
              <a:buNone/>
            </a:pPr>
            <a:r>
              <a:rPr lang="en-US" sz="2550" dirty="0">
                <a:solidFill>
                  <a:srgbClr val="EC6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3971776" y="2868067"/>
            <a:ext cx="1856036" cy="125908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23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76576" y="3153817"/>
            <a:ext cx="1246436" cy="394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897"/>
              </a:lnSpc>
              <a:buNone/>
            </a:pPr>
            <a:r>
              <a:rPr lang="en-US" sz="25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4276576" y="3567113"/>
            <a:ext cx="1246436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6667"/>
              </a:lnSpc>
              <a:buNone/>
            </a:pPr>
            <a:r>
              <a:rPr lang="en-US" sz="1800" dirty="0">
                <a:solidFill>
                  <a:srgbClr val="5A56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acct-214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909792" y="3027015"/>
            <a:ext cx="211236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dirty="0">
                <a:solidFill>
                  <a:srgbClr val="12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TRANSFERRED_TO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708106" y="3312765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179"/>
              </a:lnSpc>
              <a:buNone/>
            </a:pPr>
            <a:r>
              <a:rPr lang="en-US" sz="2550" dirty="0">
                <a:solidFill>
                  <a:srgbClr val="EC6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6018312" y="3693765"/>
            <a:ext cx="4073783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1800" dirty="0">
                <a:solidFill>
                  <a:srgbClr val="5A56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channel · amount · currency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912251" y="2868067"/>
            <a:ext cx="1856036" cy="125908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23A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17051" y="3153817"/>
            <a:ext cx="1246436" cy="394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897"/>
              </a:lnSpc>
              <a:buNone/>
            </a:pPr>
            <a:r>
              <a:rPr lang="en-US" sz="25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10217051" y="3567113"/>
            <a:ext cx="1246436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6667"/>
              </a:lnSpc>
              <a:buNone/>
            </a:pPr>
            <a:r>
              <a:rPr lang="en-US" sz="1800" dirty="0">
                <a:solidFill>
                  <a:srgbClr val="5A56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contas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333500" y="4622453"/>
            <a:ext cx="3429000" cy="1259086"/>
          </a:xfrm>
          <a:prstGeom prst="roundRect">
            <a:avLst>
              <a:gd name="adj" fmla="val 50000"/>
            </a:avLst>
          </a:prstGeom>
          <a:solidFill>
            <a:srgbClr val="FDEADB"/>
          </a:solidFill>
          <a:ln w="19050">
            <a:solidFill>
              <a:srgbClr val="EC6F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539240" y="4908203"/>
            <a:ext cx="3017520" cy="394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897"/>
              </a:lnSpc>
              <a:buNone/>
            </a:pPr>
            <a:r>
              <a:rPr lang="en-US" sz="25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</a:t>
            </a:r>
            <a:endParaRPr lang="en-US" sz="2550" dirty="0"/>
          </a:p>
        </p:txBody>
      </p:sp>
      <p:sp>
        <p:nvSpPr>
          <p:cNvPr id="20" name="Text 18"/>
          <p:cNvSpPr/>
          <p:nvPr/>
        </p:nvSpPr>
        <p:spPr>
          <a:xfrm>
            <a:off x="1539240" y="5321498"/>
            <a:ext cx="3017520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6667"/>
              </a:lnSpc>
              <a:buNone/>
            </a:pPr>
            <a:r>
              <a:rPr lang="en-US" sz="1800" dirty="0">
                <a:solidFill>
                  <a:srgbClr val="5A56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reason · description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953000" y="4947196"/>
            <a:ext cx="103643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dirty="0">
                <a:solidFill>
                  <a:srgbClr val="B45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271195" y="5232946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179"/>
              </a:lnSpc>
              <a:buNone/>
            </a:pPr>
            <a:r>
              <a:rPr lang="en-US" sz="2550" dirty="0">
                <a:solidFill>
                  <a:srgbClr val="EC6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550" dirty="0"/>
          </a:p>
        </p:txBody>
      </p:sp>
      <p:sp>
        <p:nvSpPr>
          <p:cNvPr id="23" name="Shape 21"/>
          <p:cNvSpPr/>
          <p:nvPr/>
        </p:nvSpPr>
        <p:spPr>
          <a:xfrm>
            <a:off x="6103739" y="4622453"/>
            <a:ext cx="2089547" cy="125908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23A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76452" y="4908203"/>
            <a:ext cx="1544122" cy="394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897"/>
              </a:lnSpc>
              <a:buNone/>
            </a:pPr>
            <a:r>
              <a:rPr lang="en-US" sz="25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2550" dirty="0"/>
          </a:p>
        </p:txBody>
      </p:sp>
      <p:sp>
        <p:nvSpPr>
          <p:cNvPr id="25" name="Text 23"/>
          <p:cNvSpPr/>
          <p:nvPr/>
        </p:nvSpPr>
        <p:spPr>
          <a:xfrm>
            <a:off x="6376452" y="5321498"/>
            <a:ext cx="1544122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6667"/>
              </a:lnSpc>
              <a:buNone/>
            </a:pPr>
            <a:r>
              <a:rPr lang="en-US" sz="1800" dirty="0">
                <a:solidFill>
                  <a:srgbClr val="5A56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cust-214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952500" y="7812584"/>
            <a:ext cx="16383000" cy="9525"/>
          </a:xfrm>
          <a:prstGeom prst="rect">
            <a:avLst/>
          </a:prstGeom>
          <a:solidFill>
            <a:srgbClr val="D7D1C9"/>
          </a:solidFill>
          <a:ln/>
        </p:spPr>
      </p:sp>
      <p:sp>
        <p:nvSpPr>
          <p:cNvPr id="27" name="Text 25"/>
          <p:cNvSpPr/>
          <p:nvPr/>
        </p:nvSpPr>
        <p:spPr>
          <a:xfrm>
            <a:off x="952500" y="8165009"/>
            <a:ext cx="8162544" cy="1398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051"/>
              </a:lnSpc>
              <a:buNone/>
            </a:pPr>
            <a:r>
              <a:rPr lang="en-US" sz="25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Alert é saída, não entrada. </a:t>
            </a:r>
            <a:pPr algn="l" indent="0" marL="0">
              <a:lnSpc>
                <a:spcPct val="122051"/>
              </a:lnSpc>
              <a:buNone/>
            </a:pPr>
            <a:r>
              <a:rPr lang="en-US" sz="2550" dirty="0">
                <a:solidFill>
                  <a:srgbClr val="5A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 só passa a existir depois que a triagem concluiu que o cliente deve ser sinalizado.</a:t>
            </a:r>
            <a:endParaRPr lang="en-US" sz="2550" dirty="0"/>
          </a:p>
        </p:txBody>
      </p:sp>
      <p:sp>
        <p:nvSpPr>
          <p:cNvPr id="28" name="Text 26"/>
          <p:cNvSpPr/>
          <p:nvPr/>
        </p:nvSpPr>
        <p:spPr>
          <a:xfrm>
            <a:off x="9410700" y="8165009"/>
            <a:ext cx="8162544" cy="1398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051"/>
              </a:lnSpc>
              <a:buNone/>
            </a:pPr>
            <a:r>
              <a:rPr lang="en-US" sz="25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Canais: </a:t>
            </a:r>
            <a:pPr algn="l" indent="0" marL="0">
              <a:lnSpc>
                <a:spcPct val="122051"/>
              </a:lnSpc>
              <a:buNone/>
            </a:pPr>
            <a:r>
              <a:rPr lang="en-US" sz="2550" dirty="0">
                <a:solidFill>
                  <a:srgbClr val="5A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pix · ted · boleto · deposit. Dataset fictício de 50 clientes, gerado com seed fixa e autovalidado contra os próprios detectores.</a:t>
            </a:r>
            <a:endParaRPr lang="en-US" sz="2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14400"/>
            <a:ext cx="180213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spc="252" kern="0" dirty="0">
                <a:solidFill>
                  <a:srgbClr val="B45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DETECÇÃO ESTRUTURAL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638300"/>
            <a:ext cx="18021300" cy="696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405"/>
              </a:lnSpc>
              <a:buNone/>
            </a:pPr>
            <a:r>
              <a:rPr lang="en-US" sz="4800" b="1" spc="-96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Quatro tipologias, quatro consultas Cypher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2868067"/>
            <a:ext cx="7924800" cy="2248495"/>
          </a:xfrm>
          <a:prstGeom prst="roundRect">
            <a:avLst>
              <a:gd name="adj" fmla="val 4236"/>
            </a:avLst>
          </a:prstGeom>
          <a:solidFill>
            <a:srgbClr val="FFFFFF"/>
          </a:solidFill>
          <a:ln w="9525">
            <a:solidFill>
              <a:srgbClr val="D7D1C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04925" y="3182392"/>
            <a:ext cx="794194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dirty="0">
                <a:solidFill>
                  <a:srgbClr val="B45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cycle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04925" y="3525292"/>
            <a:ext cx="7941945" cy="4542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628"/>
              </a:lnSpc>
              <a:buNone/>
            </a:pPr>
            <a:r>
              <a:rPr lang="en-US" sz="28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 de transferências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1304925" y="4055715"/>
            <a:ext cx="7436549" cy="784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2100" dirty="0">
                <a:solidFill>
                  <a:srgbClr val="5A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caminho direcionado que retorna à conta de origem — detectado em cust-200.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410700" y="2868067"/>
            <a:ext cx="7924800" cy="2248495"/>
          </a:xfrm>
          <a:prstGeom prst="roundRect">
            <a:avLst>
              <a:gd name="adj" fmla="val 4236"/>
            </a:avLst>
          </a:prstGeom>
          <a:solidFill>
            <a:srgbClr val="FFFFFF"/>
          </a:solidFill>
          <a:ln w="9525">
            <a:solidFill>
              <a:srgbClr val="D7D1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63125" y="3182392"/>
            <a:ext cx="794194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dirty="0">
                <a:solidFill>
                  <a:srgbClr val="B45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structuring-fanout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763125" y="3525292"/>
            <a:ext cx="7941945" cy="4542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628"/>
              </a:lnSpc>
              <a:buNone/>
            </a:pPr>
            <a:r>
              <a:rPr lang="en-US" sz="28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Pulverização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9763125" y="4055715"/>
            <a:ext cx="7436549" cy="784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2100" dirty="0">
                <a:solidFill>
                  <a:srgbClr val="5A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conta distribui valores parecidos para várias contas — 5 PIX de acct-207.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52500" y="5459462"/>
            <a:ext cx="7924800" cy="2248495"/>
          </a:xfrm>
          <a:prstGeom prst="roundRect">
            <a:avLst>
              <a:gd name="adj" fmla="val 4236"/>
            </a:avLst>
          </a:prstGeom>
          <a:solidFill>
            <a:srgbClr val="FFFFFF"/>
          </a:solidFill>
          <a:ln w="9525">
            <a:solidFill>
              <a:srgbClr val="D7D1C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04925" y="5773787"/>
            <a:ext cx="794194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dirty="0">
                <a:solidFill>
                  <a:srgbClr val="B45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structuring-fanin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04925" y="6116687"/>
            <a:ext cx="7941945" cy="4542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628"/>
              </a:lnSpc>
              <a:buNone/>
            </a:pPr>
            <a:r>
              <a:rPr lang="en-US" sz="28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Convergência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1304925" y="6647111"/>
            <a:ext cx="7436549" cy="784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2100" dirty="0">
                <a:solidFill>
                  <a:srgbClr val="5A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Várias contas concentram valores parecidos numa só — 5 PIX em cust-214.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410700" y="5459462"/>
            <a:ext cx="7924800" cy="2248495"/>
          </a:xfrm>
          <a:prstGeom prst="roundRect">
            <a:avLst>
              <a:gd name="adj" fmla="val 4236"/>
            </a:avLst>
          </a:prstGeom>
          <a:solidFill>
            <a:srgbClr val="FFFFFF"/>
          </a:solidFill>
          <a:ln w="9525">
            <a:solidFill>
              <a:srgbClr val="D7D1C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63125" y="5773787"/>
            <a:ext cx="794194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dirty="0">
                <a:solidFill>
                  <a:srgbClr val="B45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alert-proximity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763125" y="6116687"/>
            <a:ext cx="7941945" cy="4542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628"/>
              </a:lnSpc>
              <a:buNone/>
            </a:pPr>
            <a:r>
              <a:rPr lang="en-US" sz="28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Proximidade de rede</a:t>
            </a:r>
            <a:endParaRPr lang="en-US" sz="2850" dirty="0"/>
          </a:p>
        </p:txBody>
      </p:sp>
      <p:sp>
        <p:nvSpPr>
          <p:cNvPr id="19" name="Text 17"/>
          <p:cNvSpPr/>
          <p:nvPr/>
        </p:nvSpPr>
        <p:spPr>
          <a:xfrm>
            <a:off x="9763125" y="6647111"/>
            <a:ext cx="7436549" cy="784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2100" dirty="0">
                <a:solidFill>
                  <a:srgbClr val="5A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N saltos de um cliente já alertado — 2 saltos entre cust-129 e cust-200.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952500" y="8754517"/>
            <a:ext cx="14287500" cy="1905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21" name="Text 19"/>
          <p:cNvSpPr/>
          <p:nvPr/>
        </p:nvSpPr>
        <p:spPr>
          <a:xfrm>
            <a:off x="952500" y="9078367"/>
            <a:ext cx="14716125" cy="484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692"/>
              </a:lnSpc>
              <a:buNone/>
            </a:pPr>
            <a:r>
              <a:rPr lang="en-US" sz="255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Qualquer uma das quatro classifica o caso como risco </a:t>
            </a:r>
            <a:pPr algn="l" indent="0" marL="0">
              <a:lnSpc>
                <a:spcPct val="117692"/>
              </a:lnSpc>
              <a:buNone/>
            </a:pPr>
            <a:r>
              <a:rPr lang="en-US" sz="2550" dirty="0">
                <a:solidFill>
                  <a:srgbClr val="B45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 </a:t>
            </a:r>
            <a:pPr algn="l" indent="0" marL="0">
              <a:lnSpc>
                <a:spcPct val="117692"/>
              </a:lnSpc>
              <a:buNone/>
            </a:pPr>
            <a:r>
              <a:rPr lang="en-US" sz="255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aciona revisão humana.</a:t>
            </a:r>
            <a:endParaRPr lang="en-US" sz="2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510980"/>
            <a:ext cx="180213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spc="252" kern="0" dirty="0">
                <a:solidFill>
                  <a:srgbClr val="FF8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 02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4968180"/>
            <a:ext cx="14668500" cy="99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636"/>
              </a:lnSpc>
              <a:buNone/>
            </a:pPr>
            <a:r>
              <a:rPr lang="en-US" sz="7200" b="1" spc="-216" kern="0" dirty="0">
                <a:solidFill>
                  <a:srgbClr val="F5F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regra estática a raciocínio</a:t>
            </a:r>
            <a:endParaRPr lang="en-US" sz="7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14400"/>
            <a:ext cx="180213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spc="252" kern="0" dirty="0">
                <a:solidFill>
                  <a:srgbClr val="5A56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ANTES · RELATÓRIO ALERT-AUTO-CUST-207 · MODO ESTÁTICO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524000"/>
            <a:ext cx="18021300" cy="696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405"/>
              </a:lnSpc>
              <a:buNone/>
            </a:pPr>
            <a:r>
              <a:rPr lang="en-US" sz="4800" b="1" spc="-96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baseada em regras: texto de template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2563267"/>
            <a:ext cx="8872240" cy="1997125"/>
          </a:xfrm>
          <a:prstGeom prst="roundRect">
            <a:avLst>
              <a:gd name="adj" fmla="val 4769"/>
            </a:avLst>
          </a:prstGeom>
          <a:solidFill>
            <a:srgbClr val="EAE6E0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2906167"/>
            <a:ext cx="8353547" cy="1349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692"/>
              </a:lnSpc>
              <a:buNone/>
            </a:pPr>
            <a:r>
              <a:rPr lang="en-US" sz="255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“As evidências indicam atividade conectada para o cliente cust-207; a revisão do analista deve priorizar partes relacionadas e transações repetidas.”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952500" y="4827091"/>
            <a:ext cx="9138407" cy="1157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2100" dirty="0">
                <a:solidFill>
                  <a:srgbClr val="5A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mesma frase aparece três vezes no relatório — em </a:t>
            </a:r>
            <a:pPr algn="l" indent="0" marL="0">
              <a:lnSpc>
                <a:spcPct val="122500"/>
              </a:lnSpc>
              <a:buNone/>
            </a:pPr>
            <a:r>
              <a:rPr lang="en-US" sz="1950" dirty="0">
                <a:solidFill>
                  <a:srgbClr val="5A56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Descrição</a:t>
            </a:r>
            <a:pPr algn="l" indent="0" marL="0">
              <a:lnSpc>
                <a:spcPct val="122500"/>
              </a:lnSpc>
              <a:buNone/>
            </a:pPr>
            <a:r>
              <a:rPr lang="en-US" sz="2100" dirty="0">
                <a:solidFill>
                  <a:srgbClr val="5A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em </a:t>
            </a:r>
            <a:pPr algn="l" indent="0" marL="0">
              <a:lnSpc>
                <a:spcPct val="122500"/>
              </a:lnSpc>
              <a:buNone/>
            </a:pPr>
            <a:r>
              <a:rPr lang="en-US" sz="1950" dirty="0">
                <a:solidFill>
                  <a:srgbClr val="5A56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Análise estática </a:t>
            </a:r>
            <a:pPr algn="l" indent="0" marL="0">
              <a:lnSpc>
                <a:spcPct val="122500"/>
              </a:lnSpc>
              <a:buNone/>
            </a:pPr>
            <a:r>
              <a:rPr lang="en-US" sz="2100" dirty="0">
                <a:solidFill>
                  <a:srgbClr val="5A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como resumo. As observações são a evidência recolada, sem interpretação: “Analisados 6 itens de evidência”.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10510540" y="2563267"/>
            <a:ext cx="6824811" cy="1905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8" name="Shape 6"/>
          <p:cNvSpPr/>
          <p:nvPr/>
        </p:nvSpPr>
        <p:spPr>
          <a:xfrm>
            <a:off x="10510540" y="3309938"/>
            <a:ext cx="6824811" cy="9525"/>
          </a:xfrm>
          <a:prstGeom prst="rect">
            <a:avLst/>
          </a:prstGeom>
          <a:solidFill>
            <a:srgbClr val="D7D1C9"/>
          </a:solidFill>
          <a:ln/>
        </p:spPr>
      </p:sp>
      <p:sp>
        <p:nvSpPr>
          <p:cNvPr id="9" name="Text 7"/>
          <p:cNvSpPr/>
          <p:nvPr/>
        </p:nvSpPr>
        <p:spPr>
          <a:xfrm>
            <a:off x="10510540" y="2772817"/>
            <a:ext cx="1584231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419"/>
              </a:lnSpc>
              <a:buNone/>
            </a:pPr>
            <a:r>
              <a:rPr lang="en-US" sz="2100" dirty="0">
                <a:solidFill>
                  <a:srgbClr val="5A56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tipologia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5177641" y="2772817"/>
            <a:ext cx="2373481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50"/>
              </a:lnSpc>
              <a:buNone/>
            </a:pPr>
            <a:r>
              <a:rPr lang="en-US" sz="21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structuring-fanout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10510540" y="4047083"/>
            <a:ext cx="6824811" cy="9525"/>
          </a:xfrm>
          <a:prstGeom prst="rect">
            <a:avLst/>
          </a:prstGeom>
          <a:solidFill>
            <a:srgbClr val="D7D1C9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0540" y="3509963"/>
            <a:ext cx="3168461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419"/>
              </a:lnSpc>
              <a:buNone/>
            </a:pPr>
            <a:r>
              <a:rPr lang="en-US" sz="2100" dirty="0">
                <a:solidFill>
                  <a:srgbClr val="5A56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saídas de acct-207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5608201" y="3509963"/>
            <a:ext cx="189986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50"/>
              </a:lnSpc>
              <a:buNone/>
            </a:pPr>
            <a:r>
              <a:rPr lang="en-US" sz="21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PIX distintos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0510540" y="4784229"/>
            <a:ext cx="6824811" cy="9525"/>
          </a:xfrm>
          <a:prstGeom prst="rect">
            <a:avLst/>
          </a:prstGeom>
          <a:solidFill>
            <a:srgbClr val="D7D1C9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0540" y="4247108"/>
            <a:ext cx="2816483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419"/>
              </a:lnSpc>
              <a:buNone/>
            </a:pPr>
            <a:r>
              <a:rPr lang="en-US" sz="2100" dirty="0">
                <a:solidFill>
                  <a:srgbClr val="5A56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faixa de valores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4829383" y="4247108"/>
            <a:ext cx="275656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50"/>
              </a:lnSpc>
              <a:buNone/>
            </a:pPr>
            <a:r>
              <a:rPr lang="en-US" sz="21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BRL 926,98 – 939,42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10510540" y="5521375"/>
            <a:ext cx="6824811" cy="9525"/>
          </a:xfrm>
          <a:prstGeom prst="rect">
            <a:avLst/>
          </a:prstGeom>
          <a:solidFill>
            <a:srgbClr val="D7D1C9"/>
          </a:solidFill>
          <a:ln/>
        </p:spPr>
      </p:sp>
      <p:sp>
        <p:nvSpPr>
          <p:cNvPr id="18" name="Text 16"/>
          <p:cNvSpPr/>
          <p:nvPr/>
        </p:nvSpPr>
        <p:spPr>
          <a:xfrm>
            <a:off x="10510540" y="4984254"/>
            <a:ext cx="3168461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419"/>
              </a:lnSpc>
              <a:buNone/>
            </a:pPr>
            <a:r>
              <a:rPr lang="en-US" sz="2100" dirty="0">
                <a:solidFill>
                  <a:srgbClr val="5A56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itens de evidência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7181909" y="4984254"/>
            <a:ext cx="229642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50"/>
              </a:lnSpc>
              <a:buNone/>
            </a:pPr>
            <a:r>
              <a:rPr lang="en-US" sz="21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10510540" y="6258520"/>
            <a:ext cx="6824811" cy="9525"/>
          </a:xfrm>
          <a:prstGeom prst="rect">
            <a:avLst/>
          </a:prstGeom>
          <a:solidFill>
            <a:srgbClr val="D7D1C9"/>
          </a:solidFill>
          <a:ln/>
        </p:spPr>
      </p:sp>
      <p:sp>
        <p:nvSpPr>
          <p:cNvPr id="21" name="Text 19"/>
          <p:cNvSpPr/>
          <p:nvPr/>
        </p:nvSpPr>
        <p:spPr>
          <a:xfrm>
            <a:off x="10510540" y="5721400"/>
            <a:ext cx="876300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419"/>
              </a:lnSpc>
              <a:buNone/>
            </a:pPr>
            <a:r>
              <a:rPr lang="en-US" sz="2100" dirty="0">
                <a:solidFill>
                  <a:srgbClr val="5A56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risco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6813411" y="5721400"/>
            <a:ext cx="598140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50"/>
              </a:lnSpc>
              <a:buNone/>
            </a:pPr>
            <a:r>
              <a:rPr lang="en-US" sz="2100" dirty="0">
                <a:solidFill>
                  <a:srgbClr val="B45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952500" y="8757345"/>
            <a:ext cx="14287500" cy="9525"/>
          </a:xfrm>
          <a:prstGeom prst="rect">
            <a:avLst/>
          </a:prstGeom>
          <a:solidFill>
            <a:srgbClr val="D7D1C9"/>
          </a:solidFill>
          <a:ln/>
        </p:spPr>
      </p:sp>
      <p:sp>
        <p:nvSpPr>
          <p:cNvPr id="24" name="Text 22"/>
          <p:cNvSpPr/>
          <p:nvPr/>
        </p:nvSpPr>
        <p:spPr>
          <a:xfrm>
            <a:off x="952500" y="9071670"/>
            <a:ext cx="147161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051"/>
              </a:lnSpc>
              <a:buNone/>
            </a:pPr>
            <a:r>
              <a:rPr lang="en-US" sz="2550" dirty="0">
                <a:solidFill>
                  <a:srgbClr val="5A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padrão foi encontrado corretamente pela consulta Cypher — o que falta é a leitura do caso.</a:t>
            </a:r>
            <a:endParaRPr lang="en-US" sz="25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14400"/>
            <a:ext cx="180213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spc="252" kern="0" dirty="0">
                <a:solidFill>
                  <a:srgbClr val="FF8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DEPOIS · RELATÓRIO ALERT-AUTO-CUST-129 · OPENAI GPT-5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524000"/>
            <a:ext cx="18021300" cy="696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405"/>
              </a:lnSpc>
              <a:buNone/>
            </a:pPr>
            <a:r>
              <a:rPr lang="en-US" sz="4800" b="1" spc="-96" kern="0" dirty="0">
                <a:solidFill>
                  <a:srgbClr val="F5F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via LLM: fatos e interpretação separados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52500" y="2639467"/>
            <a:ext cx="867537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dirty="0">
                <a:solidFill>
                  <a:srgbClr val="B5AE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Fatos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52500" y="3039517"/>
            <a:ext cx="8123301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2100" dirty="0">
                <a:solidFill>
                  <a:srgbClr val="B5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TED de BRL 4.200,00 vindo de acct-proximity-bridge; depósitos e boletos em acct-122 e acct-124; TED de BRL 5.275,83 para acct-120; conexão em 2 saltos com cust-200, que já possui alerta.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448800" y="2639467"/>
            <a:ext cx="867537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dirty="0">
                <a:solidFill>
                  <a:srgbClr val="FF8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Interpretação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448800" y="3039517"/>
            <a:ext cx="7886700" cy="2358033"/>
          </a:xfrm>
          <a:prstGeom prst="roundRect">
            <a:avLst>
              <a:gd name="adj" fmla="val 4039"/>
            </a:avLst>
          </a:prstGeom>
          <a:solidFill>
            <a:srgbClr val="1F1E1C"/>
          </a:solidFill>
          <a:ln/>
        </p:spPr>
      </p:sp>
      <p:sp>
        <p:nvSpPr>
          <p:cNvPr id="8" name="Text 6"/>
          <p:cNvSpPr/>
          <p:nvPr/>
        </p:nvSpPr>
        <p:spPr>
          <a:xfrm>
            <a:off x="9791700" y="3344317"/>
            <a:ext cx="7416927" cy="17865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692"/>
              </a:lnSpc>
              <a:buNone/>
            </a:pPr>
            <a:r>
              <a:rPr lang="en-US" sz="2550" dirty="0">
                <a:solidFill>
                  <a:srgbClr val="F5F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“Não há evidência clara de ciclagem ou fracionamento nas transações listadas; recomenda-se alerta com base apenas na proximidade a um cliente já alertado.”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952500" y="7850684"/>
            <a:ext cx="14859000" cy="9525"/>
          </a:xfrm>
          <a:prstGeom prst="rect">
            <a:avLst/>
          </a:prstGeom>
          <a:solidFill>
            <a:srgbClr val="3A3631"/>
          </a:solidFill>
          <a:ln/>
        </p:spPr>
      </p:sp>
      <p:sp>
        <p:nvSpPr>
          <p:cNvPr id="10" name="Text 8"/>
          <p:cNvSpPr/>
          <p:nvPr/>
        </p:nvSpPr>
        <p:spPr>
          <a:xfrm>
            <a:off x="952500" y="8165009"/>
            <a:ext cx="15304770" cy="1398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051"/>
              </a:lnSpc>
              <a:buNone/>
            </a:pPr>
            <a:r>
              <a:rPr lang="en-US" sz="2550" dirty="0">
                <a:solidFill>
                  <a:srgbClr val="B5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modelo distingue a ausência de padrão direto e ainda assim justifica o alerta pelo motivo correto. Ele não substitui a evidência estrutural — os dois alertas só existem porque uma consulta Cypher encontrou um padrão.</a:t>
            </a:r>
            <a:endParaRPr lang="en-US" sz="25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510980"/>
            <a:ext cx="180213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spc="252" kern="0" dirty="0">
                <a:solidFill>
                  <a:srgbClr val="FF8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 03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4968180"/>
            <a:ext cx="14668500" cy="99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636"/>
              </a:lnSpc>
              <a:buNone/>
            </a:pPr>
            <a:r>
              <a:rPr lang="en-US" sz="7200" b="1" spc="-216" kern="0" dirty="0">
                <a:solidFill>
                  <a:srgbClr val="F5F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Casos rodados de verdade</a:t>
            </a:r>
            <a:endParaRPr lang="en-US" sz="7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14400"/>
            <a:ext cx="180213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spc="252" kern="0" dirty="0">
                <a:solidFill>
                  <a:srgbClr val="B45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CASO 01 · CUST-100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638300"/>
            <a:ext cx="18021300" cy="696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405"/>
              </a:lnSpc>
              <a:buNone/>
            </a:pPr>
            <a:r>
              <a:rPr lang="en-US" sz="4800" b="1" spc="-96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comum: o modelo decide não alertar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52500" y="2906167"/>
            <a:ext cx="763678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dirty="0">
                <a:solidFill>
                  <a:srgbClr val="5A56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Transações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52500" y="3210967"/>
            <a:ext cx="7636788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275"/>
              </a:lnSpc>
              <a:buNone/>
            </a:pPr>
            <a:r>
              <a:rPr lang="en-US" sz="66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952500" y="4125367"/>
            <a:ext cx="7636788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50"/>
              </a:lnSpc>
              <a:buNone/>
            </a:pPr>
            <a:r>
              <a:rPr lang="en-US" sz="2100" dirty="0">
                <a:solidFill>
                  <a:srgbClr val="5A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TED, PIX e boleto — sem padrão estrutural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52500" y="4776788"/>
            <a:ext cx="763678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dirty="0">
                <a:solidFill>
                  <a:srgbClr val="5A56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Risco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52500" y="5081588"/>
            <a:ext cx="763678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154"/>
              </a:lnSpc>
              <a:buNone/>
            </a:pPr>
            <a:r>
              <a:rPr lang="en-US" sz="4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elevated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952500" y="5691188"/>
            <a:ext cx="7636788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50"/>
              </a:lnSpc>
              <a:buNone/>
            </a:pPr>
            <a:r>
              <a:rPr lang="en-US" sz="2100" dirty="0">
                <a:solidFill>
                  <a:srgbClr val="5A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Há evidência conectada, nenhuma tipologia de alto risco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52500" y="6342608"/>
            <a:ext cx="763678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dirty="0">
                <a:solidFill>
                  <a:srgbClr val="5A56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Desfecho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52500" y="6647408"/>
            <a:ext cx="763678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154"/>
              </a:lnSpc>
              <a:buNone/>
            </a:pPr>
            <a:r>
              <a:rPr lang="en-US" sz="4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nenhum alerta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952500" y="7257008"/>
            <a:ext cx="7636788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50"/>
              </a:lnSpc>
              <a:buNone/>
            </a:pPr>
            <a:r>
              <a:rPr lang="en-US" sz="2100" dirty="0">
                <a:solidFill>
                  <a:srgbClr val="5A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recommend_alert: false · nenhum relatório gerado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8657034" y="2906167"/>
            <a:ext cx="8678466" cy="2045791"/>
          </a:xfrm>
          <a:prstGeom prst="roundRect">
            <a:avLst>
              <a:gd name="adj" fmla="val 4656"/>
            </a:avLst>
          </a:prstGeom>
          <a:solidFill>
            <a:srgbClr val="EAE6E0"/>
          </a:solidFill>
          <a:ln/>
        </p:spPr>
      </p:sp>
      <p:sp>
        <p:nvSpPr>
          <p:cNvPr id="14" name="Text 12"/>
          <p:cNvSpPr/>
          <p:nvPr/>
        </p:nvSpPr>
        <p:spPr>
          <a:xfrm>
            <a:off x="9038034" y="3249067"/>
            <a:ext cx="8153960" cy="1398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051"/>
              </a:lnSpc>
              <a:buNone/>
            </a:pPr>
            <a:r>
              <a:rPr lang="en-US" sz="255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“No concrete evidence of structuring, circular flows, rapid layering, or proximity to alerted parties. Based solely on the provided data, no alert is recommended.”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8657034" y="5218658"/>
            <a:ext cx="8938820" cy="1157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2100" dirty="0">
                <a:solidFill>
                  <a:srgbClr val="5A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prompt exige evidência concreta para recomendar um alerta — nunca especulação ou ausência de informação. Sem alerta, não há snapshot nem relatório: a trilha de auditoria começa no alerta.</a:t>
            </a:r>
            <a:endParaRPr lang="en-US" sz="2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14400"/>
            <a:ext cx="180213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spc="252" kern="0" dirty="0">
                <a:solidFill>
                  <a:srgbClr val="B45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CASO 02 · CUST-200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638300"/>
            <a:ext cx="18021300" cy="696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405"/>
              </a:lnSpc>
              <a:buNone/>
            </a:pPr>
            <a:r>
              <a:rPr lang="en-US" sz="4800" b="1" spc="-96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 detectado e alerta não duplicado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52500" y="2906167"/>
            <a:ext cx="763678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dirty="0">
                <a:solidFill>
                  <a:srgbClr val="5A56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Tipologia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52500" y="3210967"/>
            <a:ext cx="763678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154"/>
              </a:lnSpc>
              <a:buNone/>
            </a:pPr>
            <a:r>
              <a:rPr lang="en-US" sz="4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cycle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52500" y="3820567"/>
            <a:ext cx="7636788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50"/>
              </a:lnSpc>
              <a:buNone/>
            </a:pPr>
            <a:r>
              <a:rPr lang="en-US" sz="2100" dirty="0">
                <a:solidFill>
                  <a:srgbClr val="5A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 direcionado de 3 saltos que retorna à conta de origem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52500" y="4471988"/>
            <a:ext cx="763678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dirty="0">
                <a:solidFill>
                  <a:srgbClr val="5A56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Risco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52500" y="4776788"/>
            <a:ext cx="763678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154"/>
              </a:lnSpc>
              <a:buNone/>
            </a:pPr>
            <a:r>
              <a:rPr lang="en-US" sz="4200" b="1" dirty="0">
                <a:solidFill>
                  <a:srgbClr val="B45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952500" y="5614988"/>
            <a:ext cx="763678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dirty="0">
                <a:solidFill>
                  <a:srgbClr val="5A56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Registro do alerta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52500" y="5919788"/>
            <a:ext cx="763678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154"/>
              </a:lnSpc>
              <a:buNone/>
            </a:pPr>
            <a:r>
              <a:rPr lang="en-US" sz="4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952500" y="6529388"/>
            <a:ext cx="7636788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50"/>
              </a:lnSpc>
              <a:buNone/>
            </a:pPr>
            <a:r>
              <a:rPr lang="en-US" sz="2100" dirty="0">
                <a:solidFill>
                  <a:srgbClr val="5A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alert-auto-cust-200 já existia — nada é recriado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657034" y="2906167"/>
            <a:ext cx="8678466" cy="1592461"/>
          </a:xfrm>
          <a:prstGeom prst="roundRect">
            <a:avLst>
              <a:gd name="adj" fmla="val 5981"/>
            </a:avLst>
          </a:prstGeom>
          <a:solidFill>
            <a:srgbClr val="EAE6E0"/>
          </a:solidFill>
          <a:ln/>
        </p:spPr>
      </p:sp>
      <p:sp>
        <p:nvSpPr>
          <p:cNvPr id="13" name="Text 11"/>
          <p:cNvSpPr/>
          <p:nvPr/>
        </p:nvSpPr>
        <p:spPr>
          <a:xfrm>
            <a:off x="9038034" y="3249067"/>
            <a:ext cx="8153960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051"/>
              </a:lnSpc>
              <a:buNone/>
            </a:pPr>
            <a:r>
              <a:rPr lang="en-US" sz="255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“An existing alert for this cycle already exists; no new alert recommended.”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8657034" y="4765328"/>
            <a:ext cx="8938820" cy="1157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2100" dirty="0">
                <a:solidFill>
                  <a:srgbClr val="5A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Idempotência não é só uma garantia do banco: o estado do caso entra no prompt, e o insight gerado reflete que o alerta já estava aberto — o mesmo acontece em cust-214.</a:t>
            </a:r>
            <a:endParaRPr lang="en-US" sz="2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14400"/>
            <a:ext cx="180213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spc="252" kern="0" dirty="0">
                <a:solidFill>
                  <a:srgbClr val="B45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CASO 03 · CUST-129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524000"/>
            <a:ext cx="18021300" cy="696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405"/>
              </a:lnSpc>
              <a:buNone/>
            </a:pPr>
            <a:r>
              <a:rPr lang="en-US" sz="4800" b="1" spc="-96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 por proximidade de rede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52500" y="3387030"/>
            <a:ext cx="8281193" cy="18514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051"/>
              </a:lnSpc>
              <a:buNone/>
            </a:pPr>
            <a:r>
              <a:rPr lang="en-US" sz="2550" dirty="0">
                <a:solidFill>
                  <a:srgbClr val="5A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Sete transações comuns — depósitos, boletos e dois TED — e nenhum padrão de ciclo ou estruturação. Mas há um TED de </a:t>
            </a:r>
            <a:pPr algn="l" indent="0" marL="0">
              <a:lnSpc>
                <a:spcPct val="122051"/>
              </a:lnSpc>
              <a:buNone/>
            </a:pPr>
            <a:r>
              <a:rPr lang="en-US" sz="25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BRL 4.200,00 </a:t>
            </a:r>
            <a:pPr algn="l" indent="0" marL="0">
              <a:lnSpc>
                <a:spcPct val="122051"/>
              </a:lnSpc>
              <a:buNone/>
            </a:pPr>
            <a:r>
              <a:rPr lang="en-US" sz="2550" dirty="0">
                <a:solidFill>
                  <a:srgbClr val="5A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vindo de </a:t>
            </a:r>
            <a:pPr algn="l" indent="0" marL="0">
              <a:lnSpc>
                <a:spcPct val="122051"/>
              </a:lnSpc>
              <a:buNone/>
            </a:pPr>
            <a:r>
              <a:rPr lang="en-US" sz="22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acct-proximity-bridge </a:t>
            </a:r>
            <a:pPr algn="l" indent="0" marL="0">
              <a:lnSpc>
                <a:spcPct val="122051"/>
              </a:lnSpc>
              <a:buNone/>
            </a:pPr>
            <a:r>
              <a:rPr lang="en-US" sz="2550" dirty="0">
                <a:solidFill>
                  <a:srgbClr val="5A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 dois saltos de </a:t>
            </a:r>
            <a:pPr algn="l" indent="0" marL="0">
              <a:lnSpc>
                <a:spcPct val="122051"/>
              </a:lnSpc>
              <a:buNone/>
            </a:pPr>
            <a:r>
              <a:rPr lang="en-US" sz="25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cust-200</a:t>
            </a:r>
            <a:pPr algn="l" indent="0" marL="0">
              <a:lnSpc>
                <a:spcPct val="122051"/>
              </a:lnSpc>
              <a:buNone/>
            </a:pPr>
            <a:r>
              <a:rPr lang="en-US" sz="2550" dirty="0">
                <a:solidFill>
                  <a:srgbClr val="5A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que já tem alerta.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952500" y="5467052"/>
            <a:ext cx="8039993" cy="9525"/>
          </a:xfrm>
          <a:prstGeom prst="rect">
            <a:avLst/>
          </a:prstGeom>
          <a:solidFill>
            <a:srgbClr val="D7D1C9"/>
          </a:solidFill>
          <a:ln/>
        </p:spPr>
      </p:sp>
      <p:sp>
        <p:nvSpPr>
          <p:cNvPr id="6" name="Text 4"/>
          <p:cNvSpPr/>
          <p:nvPr/>
        </p:nvSpPr>
        <p:spPr>
          <a:xfrm>
            <a:off x="952500" y="5667077"/>
            <a:ext cx="3562350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56"/>
              </a:lnSpc>
              <a:buNone/>
            </a:pPr>
            <a:r>
              <a:rPr lang="en-US" sz="1800" dirty="0">
                <a:solidFill>
                  <a:srgbClr val="12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alert-proximity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419600" y="5667077"/>
            <a:ext cx="4048244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50"/>
              </a:lnSpc>
              <a:buNone/>
            </a:pPr>
            <a:r>
              <a:rPr lang="en-US" sz="2100" dirty="0">
                <a:solidFill>
                  <a:srgbClr val="5A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Evidência de alto risco por si só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52500" y="6204198"/>
            <a:ext cx="8039993" cy="9525"/>
          </a:xfrm>
          <a:prstGeom prst="rect">
            <a:avLst/>
          </a:prstGeom>
          <a:solidFill>
            <a:srgbClr val="D7D1C9"/>
          </a:solidFill>
          <a:ln/>
        </p:spPr>
      </p:sp>
      <p:sp>
        <p:nvSpPr>
          <p:cNvPr id="9" name="Text 7"/>
          <p:cNvSpPr/>
          <p:nvPr/>
        </p:nvSpPr>
        <p:spPr>
          <a:xfrm>
            <a:off x="952500" y="6404223"/>
            <a:ext cx="3562350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56"/>
              </a:lnSpc>
              <a:buNone/>
            </a:pPr>
            <a:r>
              <a:rPr lang="en-US" sz="1800" dirty="0">
                <a:solidFill>
                  <a:srgbClr val="B45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risco high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419600" y="6404223"/>
            <a:ext cx="2943523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50"/>
              </a:lnSpc>
              <a:buNone/>
            </a:pPr>
            <a:r>
              <a:rPr lang="en-US" sz="2100" dirty="0">
                <a:solidFill>
                  <a:srgbClr val="5A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recommend_alert: true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952500" y="7678489"/>
            <a:ext cx="8039993" cy="9525"/>
          </a:xfrm>
          <a:prstGeom prst="rect">
            <a:avLst/>
          </a:prstGeom>
          <a:solidFill>
            <a:srgbClr val="D7D1C9"/>
          </a:solidFill>
          <a:ln/>
        </p:spPr>
      </p:sp>
      <p:sp>
        <p:nvSpPr>
          <p:cNvPr id="12" name="Shape 10"/>
          <p:cNvSpPr/>
          <p:nvPr/>
        </p:nvSpPr>
        <p:spPr>
          <a:xfrm>
            <a:off x="952500" y="6941344"/>
            <a:ext cx="8039993" cy="9525"/>
          </a:xfrm>
          <a:prstGeom prst="rect">
            <a:avLst/>
          </a:prstGeom>
          <a:solidFill>
            <a:srgbClr val="D7D1C9"/>
          </a:solidFill>
          <a:ln/>
        </p:spPr>
      </p:sp>
      <p:sp>
        <p:nvSpPr>
          <p:cNvPr id="13" name="Text 11"/>
          <p:cNvSpPr/>
          <p:nvPr/>
        </p:nvSpPr>
        <p:spPr>
          <a:xfrm>
            <a:off x="952500" y="7141369"/>
            <a:ext cx="3562350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56"/>
              </a:lnSpc>
              <a:buNone/>
            </a:pPr>
            <a:r>
              <a:rPr lang="en-US" sz="180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alert-auto-cust-129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419600" y="7141369"/>
            <a:ext cx="4465380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50"/>
              </a:lnSpc>
              <a:buNone/>
            </a:pPr>
            <a:r>
              <a:rPr lang="en-US" sz="2100" dirty="0">
                <a:solidFill>
                  <a:srgbClr val="5A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Novo alerta criado nesta execução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952500" y="7954714"/>
            <a:ext cx="8281193" cy="784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2100" dirty="0">
                <a:solidFill>
                  <a:srgbClr val="5A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raio em saltos é configurável por variável de ambiente, não fixo em código.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678293" y="2563267"/>
            <a:ext cx="7657207" cy="6215211"/>
          </a:xfrm>
          <a:prstGeom prst="roundRect">
            <a:avLst>
              <a:gd name="adj" fmla="val 1533"/>
            </a:avLst>
          </a:prstGeom>
          <a:solidFill>
            <a:srgbClr val="FFFFFF"/>
          </a:solidFill>
          <a:ln w="9525">
            <a:solidFill>
              <a:srgbClr val="D7D1C9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201846" y="2884736"/>
            <a:ext cx="4610100" cy="5572125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9678293" y="8930878"/>
            <a:ext cx="7886923" cy="632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56"/>
              </a:lnSpc>
              <a:buNone/>
            </a:pPr>
            <a:r>
              <a:rPr lang="en-US" sz="1800" dirty="0">
                <a:solidFill>
                  <a:srgbClr val="5A56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Neo4j Browser · caminho de 2 saltos até o cliente já alertado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14400"/>
            <a:ext cx="180213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spc="252" kern="0" dirty="0">
                <a:solidFill>
                  <a:srgbClr val="B45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CASO 04 · CUST-214 · PAUSA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524000"/>
            <a:ext cx="18021300" cy="696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405"/>
              </a:lnSpc>
              <a:buNone/>
            </a:pPr>
            <a:r>
              <a:rPr lang="en-US" sz="4800" b="1" spc="-96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grafo para e devolve o controle ao analista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52500" y="3573214"/>
            <a:ext cx="8281193" cy="1398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051"/>
              </a:lnSpc>
              <a:buNone/>
            </a:pPr>
            <a:r>
              <a:rPr lang="en-US" sz="2550" dirty="0">
                <a:solidFill>
                  <a:srgbClr val="5A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Cinco PIX de contas diferentes, com valores entre </a:t>
            </a:r>
            <a:pPr algn="l" indent="0" marL="0">
              <a:lnSpc>
                <a:spcPct val="122051"/>
              </a:lnSpc>
              <a:buNone/>
            </a:pPr>
            <a:r>
              <a:rPr lang="en-US" sz="25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BRL 936,16 e 958,15 </a:t>
            </a:r>
            <a:pPr algn="l" indent="0" marL="0">
              <a:lnSpc>
                <a:spcPct val="122051"/>
              </a:lnSpc>
              <a:buNone/>
            </a:pPr>
            <a:r>
              <a:rPr lang="en-US" sz="2550" dirty="0">
                <a:solidFill>
                  <a:srgbClr val="5A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convergindo para a mesma conta: </a:t>
            </a:r>
            <a:pPr algn="l" indent="0" marL="0">
              <a:lnSpc>
                <a:spcPct val="122051"/>
              </a:lnSpc>
              <a:buNone/>
            </a:pPr>
            <a:r>
              <a:rPr lang="en-US" sz="25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structuring-fanin</a:t>
            </a:r>
            <a:pPr algn="l" indent="0" marL="0">
              <a:lnSpc>
                <a:spcPct val="122051"/>
              </a:lnSpc>
              <a:buNone/>
            </a:pPr>
            <a:r>
              <a:rPr lang="en-US" sz="2550" dirty="0">
                <a:solidFill>
                  <a:srgbClr val="5A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risco </a:t>
            </a:r>
            <a:pPr algn="l" indent="0" marL="0">
              <a:lnSpc>
                <a:spcPct val="122051"/>
              </a:lnSpc>
              <a:buNone/>
            </a:pPr>
            <a:r>
              <a:rPr lang="en-US" sz="2550" b="1" dirty="0">
                <a:solidFill>
                  <a:srgbClr val="B45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pPr algn="l" indent="0" marL="0">
              <a:lnSpc>
                <a:spcPct val="122051"/>
              </a:lnSpc>
              <a:buNone/>
            </a:pPr>
            <a:r>
              <a:rPr lang="en-US" sz="2550" dirty="0">
                <a:solidFill>
                  <a:srgbClr val="5A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952500" y="5199906"/>
            <a:ext cx="8039993" cy="2301925"/>
          </a:xfrm>
          <a:prstGeom prst="roundRect">
            <a:avLst>
              <a:gd name="adj" fmla="val 4138"/>
            </a:avLst>
          </a:prstGeom>
          <a:solidFill>
            <a:srgbClr val="FDEADB"/>
          </a:solidFill>
          <a:ln w="9525">
            <a:solidFill>
              <a:srgbClr val="EC6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04925" y="5514231"/>
            <a:ext cx="806865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dirty="0">
                <a:solidFill>
                  <a:srgbClr val="B45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human_review · paused: true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04925" y="5876181"/>
            <a:ext cx="7555197" cy="1349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692"/>
              </a:lnSpc>
              <a:buNone/>
            </a:pPr>
            <a:r>
              <a:rPr lang="en-US" sz="255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execução para dentro do nó e devolve o motivo, as tipologias, o resumo da evidência e o thread do caso — sem terminar.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952500" y="7768530"/>
            <a:ext cx="8281193" cy="784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2100" dirty="0">
                <a:solidFill>
                  <a:srgbClr val="5A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Nenhum alerta de alto risco é criado ou fechado sem confirmação humana explícita.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9678293" y="2563267"/>
            <a:ext cx="7657207" cy="6512272"/>
          </a:xfrm>
          <a:prstGeom prst="roundRect">
            <a:avLst>
              <a:gd name="adj" fmla="val 1463"/>
            </a:avLst>
          </a:prstGeom>
          <a:solidFill>
            <a:srgbClr val="FFFFFF"/>
          </a:solidFill>
          <a:ln w="9525">
            <a:solidFill>
              <a:srgbClr val="D7D1C9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073259" y="3385691"/>
            <a:ext cx="4867275" cy="4867275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678293" y="9227939"/>
            <a:ext cx="8422928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56"/>
              </a:lnSpc>
              <a:buNone/>
            </a:pPr>
            <a:r>
              <a:rPr lang="en-US" sz="1800" dirty="0">
                <a:solidFill>
                  <a:srgbClr val="5A56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Neo4j Browser · convergência de 5 contas em acct-214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14400"/>
            <a:ext cx="180213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spc="252" kern="0" dirty="0">
                <a:solidFill>
                  <a:srgbClr val="B45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CASO 04 · CUST-214 · RETOMADA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638300"/>
            <a:ext cx="18021300" cy="696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405"/>
              </a:lnSpc>
              <a:buNone/>
            </a:pPr>
            <a:r>
              <a:rPr lang="en-US" sz="4800" b="1" spc="-96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execução continua exatamente de onde parou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3104257"/>
            <a:ext cx="2011710" cy="815280"/>
          </a:xfrm>
          <a:prstGeom prst="roundRect">
            <a:avLst>
              <a:gd name="adj" fmla="val 11683"/>
            </a:avLst>
          </a:prstGeom>
          <a:solidFill>
            <a:srgbClr val="FDEADB"/>
          </a:solidFill>
          <a:ln w="19050">
            <a:solidFill>
              <a:srgbClr val="EC6F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8250" y="3351907"/>
            <a:ext cx="1584231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87"/>
              </a:lnSpc>
              <a:buNone/>
            </a:pPr>
            <a:r>
              <a:rPr lang="en-US" sz="210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interrupt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173760" y="3349972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179"/>
              </a:lnSpc>
              <a:buNone/>
            </a:pPr>
            <a:r>
              <a:rPr lang="en-US" sz="2550" dirty="0">
                <a:solidFill>
                  <a:srgbClr val="EC6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3707160" y="2944267"/>
            <a:ext cx="3239839" cy="1135261"/>
          </a:xfrm>
          <a:prstGeom prst="roundRect">
            <a:avLst>
              <a:gd name="adj" fmla="val 8390"/>
            </a:avLst>
          </a:prstGeom>
          <a:solidFill>
            <a:srgbClr val="FFFFFF"/>
          </a:solidFill>
          <a:ln w="19050">
            <a:solidFill>
              <a:srgbClr val="12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92910" y="3191917"/>
            <a:ext cx="274839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87"/>
              </a:lnSpc>
              <a:buNone/>
            </a:pPr>
            <a:r>
              <a:rPr lang="en-US" sz="210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confirm-escalation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7156549" y="3349972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179"/>
              </a:lnSpc>
              <a:buNone/>
            </a:pPr>
            <a:r>
              <a:rPr lang="en-US" sz="2550" dirty="0">
                <a:solidFill>
                  <a:srgbClr val="EC6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7689949" y="2944267"/>
            <a:ext cx="2943374" cy="1135261"/>
          </a:xfrm>
          <a:prstGeom prst="roundRect">
            <a:avLst>
              <a:gd name="adj" fmla="val 8390"/>
            </a:avLst>
          </a:prstGeom>
          <a:solidFill>
            <a:srgbClr val="FFFFFF"/>
          </a:solidFill>
          <a:ln w="19050">
            <a:solidFill>
              <a:srgbClr val="123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75699" y="3191917"/>
            <a:ext cx="2448074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87"/>
              </a:lnSpc>
              <a:buNone/>
            </a:pPr>
            <a:r>
              <a:rPr lang="en-US" sz="210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analyst-reviewed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0842873" y="3349972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179"/>
              </a:lnSpc>
              <a:buNone/>
            </a:pPr>
            <a:r>
              <a:rPr lang="en-US" sz="2550" dirty="0">
                <a:solidFill>
                  <a:srgbClr val="EC6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11376273" y="3104257"/>
            <a:ext cx="1531739" cy="815280"/>
          </a:xfrm>
          <a:prstGeom prst="roundRect">
            <a:avLst>
              <a:gd name="adj" fmla="val 11683"/>
            </a:avLst>
          </a:prstGeom>
          <a:solidFill>
            <a:srgbClr val="FFFFFF"/>
          </a:solidFill>
          <a:ln w="19050">
            <a:solidFill>
              <a:srgbClr val="123A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662023" y="3351907"/>
            <a:ext cx="1036439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87"/>
              </a:lnSpc>
              <a:buNone/>
            </a:pPr>
            <a:r>
              <a:rPr lang="en-US" sz="210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3117562" y="3349972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179"/>
              </a:lnSpc>
              <a:buNone/>
            </a:pPr>
            <a:r>
              <a:rPr lang="en-US" sz="2550" dirty="0">
                <a:solidFill>
                  <a:srgbClr val="EC6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13650962" y="2944267"/>
            <a:ext cx="3684538" cy="1135261"/>
          </a:xfrm>
          <a:prstGeom prst="roundRect">
            <a:avLst>
              <a:gd name="adj" fmla="val 8390"/>
            </a:avLst>
          </a:prstGeom>
          <a:solidFill>
            <a:srgbClr val="141414"/>
          </a:solidFill>
          <a:ln w="19050">
            <a:solidFill>
              <a:srgbClr val="14141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936712" y="3191917"/>
            <a:ext cx="3206429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87"/>
              </a:lnSpc>
              <a:buNone/>
            </a:pPr>
            <a:r>
              <a:rPr lang="en-US" sz="2100" dirty="0">
                <a:solidFill>
                  <a:srgbClr val="F5F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disposition: escalate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952500" y="7359253"/>
            <a:ext cx="16383000" cy="9525"/>
          </a:xfrm>
          <a:prstGeom prst="rect">
            <a:avLst/>
          </a:prstGeom>
          <a:solidFill>
            <a:srgbClr val="D7D1C9"/>
          </a:solidFill>
          <a:ln/>
        </p:spPr>
      </p:sp>
      <p:sp>
        <p:nvSpPr>
          <p:cNvPr id="19" name="Text 17"/>
          <p:cNvSpPr/>
          <p:nvPr/>
        </p:nvSpPr>
        <p:spPr>
          <a:xfrm>
            <a:off x="952500" y="7711678"/>
            <a:ext cx="8123301" cy="18514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051"/>
              </a:lnSpc>
              <a:buNone/>
            </a:pPr>
            <a:r>
              <a:rPr lang="en-US" sz="25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reprocessamento. </a:t>
            </a:r>
            <a:pPr algn="l" indent="0" marL="0">
              <a:lnSpc>
                <a:spcPct val="122051"/>
              </a:lnSpc>
              <a:buNone/>
            </a:pPr>
            <a:r>
              <a:rPr lang="en-US" sz="2550" dirty="0">
                <a:solidFill>
                  <a:srgbClr val="5A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retomada não busca evidência de novo nem faz nova chamada ao LLM; o rationale final soma evidência factual, sinal estrutural, decisão do analista e leitura do modelo.</a:t>
            </a:r>
            <a:endParaRPr lang="en-US" sz="2550" dirty="0"/>
          </a:p>
        </p:txBody>
      </p:sp>
      <p:sp>
        <p:nvSpPr>
          <p:cNvPr id="20" name="Text 18"/>
          <p:cNvSpPr/>
          <p:nvPr/>
        </p:nvSpPr>
        <p:spPr>
          <a:xfrm>
            <a:off x="9448800" y="7711678"/>
            <a:ext cx="8123301" cy="18514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051"/>
              </a:lnSpc>
              <a:buNone/>
            </a:pPr>
            <a:r>
              <a:rPr lang="en-US" sz="25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Hoje em memória. </a:t>
            </a:r>
            <a:pPr algn="l" indent="0" marL="0">
              <a:lnSpc>
                <a:spcPct val="122051"/>
              </a:lnSpc>
              <a:buNone/>
            </a:pPr>
            <a:r>
              <a:rPr lang="en-US" sz="2550" dirty="0">
                <a:solidFill>
                  <a:srgbClr val="5A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checkpointer é o MemorySaver; em produção seria um checkpointer durável, capaz de resistir a reinício de processo.</a:t>
            </a:r>
            <a:endParaRPr lang="en-US" sz="25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510980"/>
            <a:ext cx="180213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spc="252" kern="0" dirty="0">
                <a:solidFill>
                  <a:srgbClr val="FF8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 04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4968180"/>
            <a:ext cx="14668500" cy="99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636"/>
              </a:lnSpc>
              <a:buNone/>
            </a:pPr>
            <a:r>
              <a:rPr lang="en-US" sz="7200" b="1" spc="-216" kern="0" dirty="0">
                <a:solidFill>
                  <a:srgbClr val="F5F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relatório e a engenharia por trás</a:t>
            </a:r>
            <a:endParaRPr lang="en-US" sz="7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14400"/>
            <a:ext cx="180213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spc="252" kern="0" dirty="0">
                <a:solidFill>
                  <a:srgbClr val="B45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ENTREGÁVEL PARA O ANALISTA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638300"/>
            <a:ext cx="18021300" cy="696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405"/>
              </a:lnSpc>
              <a:buNone/>
            </a:pPr>
            <a:r>
              <a:rPr lang="en-US" sz="4800" b="1" spc="-96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Anatomia de um relatório de investigação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2868067"/>
            <a:ext cx="8396139" cy="9525"/>
          </a:xfrm>
          <a:prstGeom prst="rect">
            <a:avLst/>
          </a:prstGeom>
          <a:solidFill>
            <a:srgbClr val="D7D1C9"/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3106192"/>
            <a:ext cx="933450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1800" dirty="0">
                <a:solidFill>
                  <a:srgbClr val="B45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114550" y="3106192"/>
            <a:ext cx="7957498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125"/>
              </a:lnSpc>
              <a:buNone/>
            </a:pPr>
            <a:r>
              <a:rPr lang="en-US" sz="2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Cabeçalho </a:t>
            </a:r>
            <a:pPr algn="l" indent="0" marL="0">
              <a:lnSpc>
                <a:spcPct val="118125"/>
              </a:lnSpc>
              <a:buNone/>
            </a:pPr>
            <a:r>
              <a:rPr lang="en-US" sz="21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cliente, motivo, nível de risco e data de criação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52500" y="3694807"/>
            <a:ext cx="8396139" cy="9525"/>
          </a:xfrm>
          <a:prstGeom prst="rect">
            <a:avLst/>
          </a:prstGeom>
          <a:solidFill>
            <a:srgbClr val="D7D1C9"/>
          </a:solidFill>
          <a:ln/>
        </p:spPr>
      </p:sp>
      <p:sp>
        <p:nvSpPr>
          <p:cNvPr id="8" name="Text 6"/>
          <p:cNvSpPr/>
          <p:nvPr/>
        </p:nvSpPr>
        <p:spPr>
          <a:xfrm>
            <a:off x="952500" y="3932932"/>
            <a:ext cx="933450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1800" dirty="0">
                <a:solidFill>
                  <a:srgbClr val="B45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114550" y="3932932"/>
            <a:ext cx="7957498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125"/>
              </a:lnSpc>
              <a:buNone/>
            </a:pPr>
            <a:r>
              <a:rPr lang="en-US" sz="2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Descrição e avaliação de risco </a:t>
            </a:r>
            <a:pPr algn="l" indent="0" marL="0">
              <a:lnSpc>
                <a:spcPct val="118125"/>
              </a:lnSpc>
              <a:buNone/>
            </a:pPr>
            <a:r>
              <a:rPr lang="en-US" sz="21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tipologias detectadas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952500" y="4521547"/>
            <a:ext cx="8396139" cy="9525"/>
          </a:xfrm>
          <a:prstGeom prst="rect">
            <a:avLst/>
          </a:prstGeom>
          <a:solidFill>
            <a:srgbClr val="D7D1C9"/>
          </a:solidFill>
          <a:ln/>
        </p:spPr>
      </p:sp>
      <p:sp>
        <p:nvSpPr>
          <p:cNvPr id="11" name="Text 9"/>
          <p:cNvSpPr/>
          <p:nvPr/>
        </p:nvSpPr>
        <p:spPr>
          <a:xfrm>
            <a:off x="952500" y="4759672"/>
            <a:ext cx="933450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1800" dirty="0">
                <a:solidFill>
                  <a:srgbClr val="B45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114550" y="4759672"/>
            <a:ext cx="7451111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125"/>
              </a:lnSpc>
              <a:buNone/>
            </a:pPr>
            <a:r>
              <a:rPr lang="en-US" sz="2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</a:t>
            </a:r>
            <a:pPr algn="l" indent="0" marL="0">
              <a:lnSpc>
                <a:spcPct val="118125"/>
              </a:lnSpc>
              <a:buNone/>
            </a:pPr>
            <a:r>
              <a:rPr lang="en-US" sz="21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via LLM ou estática, com observações e a razão do alerta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952500" y="5708303"/>
            <a:ext cx="8396139" cy="9525"/>
          </a:xfrm>
          <a:prstGeom prst="rect">
            <a:avLst/>
          </a:prstGeom>
          <a:solidFill>
            <a:srgbClr val="D7D1C9"/>
          </a:solidFill>
          <a:ln/>
        </p:spPr>
      </p:sp>
      <p:sp>
        <p:nvSpPr>
          <p:cNvPr id="14" name="Text 12"/>
          <p:cNvSpPr/>
          <p:nvPr/>
        </p:nvSpPr>
        <p:spPr>
          <a:xfrm>
            <a:off x="952500" y="5946428"/>
            <a:ext cx="933450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1800" dirty="0">
                <a:solidFill>
                  <a:srgbClr val="B45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114550" y="5946428"/>
            <a:ext cx="7451111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125"/>
              </a:lnSpc>
              <a:buNone/>
            </a:pPr>
            <a:r>
              <a:rPr lang="en-US" sz="2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 de evidências </a:t>
            </a:r>
            <a:pPr algn="l" indent="0" marL="0">
              <a:lnSpc>
                <a:spcPct val="118125"/>
              </a:lnSpc>
              <a:buNone/>
            </a:pPr>
            <a:r>
              <a:rPr lang="en-US" sz="21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cada item com tipo, contraparte, detalhe e origem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52500" y="8081814"/>
            <a:ext cx="8396139" cy="9525"/>
          </a:xfrm>
          <a:prstGeom prst="rect">
            <a:avLst/>
          </a:prstGeom>
          <a:solidFill>
            <a:srgbClr val="D7D1C9"/>
          </a:solidFill>
          <a:ln/>
        </p:spPr>
      </p:sp>
      <p:sp>
        <p:nvSpPr>
          <p:cNvPr id="17" name="Shape 15"/>
          <p:cNvSpPr/>
          <p:nvPr/>
        </p:nvSpPr>
        <p:spPr>
          <a:xfrm>
            <a:off x="952500" y="6895058"/>
            <a:ext cx="8396139" cy="9525"/>
          </a:xfrm>
          <a:prstGeom prst="rect">
            <a:avLst/>
          </a:prstGeom>
          <a:solidFill>
            <a:srgbClr val="D7D1C9"/>
          </a:solidFill>
          <a:ln/>
        </p:spPr>
      </p:sp>
      <p:sp>
        <p:nvSpPr>
          <p:cNvPr id="18" name="Text 16"/>
          <p:cNvSpPr/>
          <p:nvPr/>
        </p:nvSpPr>
        <p:spPr>
          <a:xfrm>
            <a:off x="952500" y="7133183"/>
            <a:ext cx="933450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1800" dirty="0">
                <a:solidFill>
                  <a:srgbClr val="B45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114550" y="7133183"/>
            <a:ext cx="7451111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125"/>
              </a:lnSpc>
              <a:buNone/>
            </a:pPr>
            <a:r>
              <a:rPr lang="en-US" sz="2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Cypher pronta </a:t>
            </a:r>
            <a:pPr algn="l" indent="0" marL="0">
              <a:lnSpc>
                <a:spcPct val="118125"/>
              </a:lnSpc>
              <a:buNone/>
            </a:pPr>
            <a:r>
              <a:rPr lang="en-US" sz="21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duas consultas para abrir o caso no Neo4j Browser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10034439" y="2868067"/>
            <a:ext cx="7300913" cy="5508427"/>
          </a:xfrm>
          <a:prstGeom prst="roundRect">
            <a:avLst>
              <a:gd name="adj" fmla="val 1729"/>
            </a:avLst>
          </a:prstGeom>
          <a:solidFill>
            <a:srgbClr val="EAE6E0"/>
          </a:solidFill>
          <a:ln/>
        </p:spPr>
      </p:sp>
      <p:sp>
        <p:nvSpPr>
          <p:cNvPr id="21" name="Text 19"/>
          <p:cNvSpPr/>
          <p:nvPr/>
        </p:nvSpPr>
        <p:spPr>
          <a:xfrm>
            <a:off x="10453539" y="3249067"/>
            <a:ext cx="7108984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1800" dirty="0">
                <a:solidFill>
                  <a:srgbClr val="5A56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alert-auto-cust-214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453539" y="3732907"/>
            <a:ext cx="7108984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3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 de Investigação de Alerta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10453539" y="4399657"/>
            <a:ext cx="7108984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50"/>
              </a:lnSpc>
              <a:buNone/>
            </a:pPr>
            <a:r>
              <a:rPr lang="en-US" sz="2100" dirty="0">
                <a:solidFill>
                  <a:srgbClr val="5A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Cliente: </a:t>
            </a:r>
            <a:pPr algn="l" indent="0" marL="0">
              <a:lnSpc>
                <a:spcPct val="113750"/>
              </a:lnSpc>
              <a:buNone/>
            </a:pPr>
            <a:r>
              <a:rPr lang="en-US" sz="21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cust-214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0453539" y="4879628"/>
            <a:ext cx="7108984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50"/>
              </a:lnSpc>
              <a:buNone/>
            </a:pPr>
            <a:r>
              <a:rPr lang="en-US" sz="2100" dirty="0">
                <a:solidFill>
                  <a:srgbClr val="5A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Nível de risco: </a:t>
            </a:r>
            <a:pPr algn="l" indent="0" marL="0">
              <a:lnSpc>
                <a:spcPct val="113750"/>
              </a:lnSpc>
              <a:buNone/>
            </a:pPr>
            <a:r>
              <a:rPr lang="en-US" sz="2100" b="1" dirty="0">
                <a:solidFill>
                  <a:srgbClr val="B45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0453539" y="5359598"/>
            <a:ext cx="7108984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50"/>
              </a:lnSpc>
              <a:buNone/>
            </a:pPr>
            <a:r>
              <a:rPr lang="en-US" sz="2100" dirty="0">
                <a:solidFill>
                  <a:srgbClr val="5A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Tipologia: </a:t>
            </a:r>
            <a:pPr algn="l" indent="0" marL="0">
              <a:lnSpc>
                <a:spcPct val="113750"/>
              </a:lnSpc>
              <a:buNone/>
            </a:pPr>
            <a:r>
              <a:rPr lang="en-US" sz="21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Estruturação (fan-in)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0453539" y="5839569"/>
            <a:ext cx="7108984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50"/>
              </a:lnSpc>
              <a:buNone/>
            </a:pPr>
            <a:r>
              <a:rPr lang="en-US" sz="2100" dirty="0">
                <a:solidFill>
                  <a:srgbClr val="5A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Provedor da análise: </a:t>
            </a:r>
            <a:pPr algn="l" indent="0" marL="0">
              <a:lnSpc>
                <a:spcPct val="113750"/>
              </a:lnSpc>
              <a:buNone/>
            </a:pPr>
            <a:r>
              <a:rPr lang="en-US" sz="21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10453539" y="6319540"/>
            <a:ext cx="7108984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50"/>
              </a:lnSpc>
              <a:buNone/>
            </a:pPr>
            <a:r>
              <a:rPr lang="en-US" sz="2100" dirty="0">
                <a:solidFill>
                  <a:srgbClr val="5A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Criado em: </a:t>
            </a:r>
            <a:pPr algn="l" indent="0" marL="0">
              <a:lnSpc>
                <a:spcPct val="113750"/>
              </a:lnSpc>
              <a:buNone/>
            </a:pPr>
            <a:r>
              <a:rPr lang="en-US" sz="21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2026-07-31T03:50:48Z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10453539" y="6875711"/>
            <a:ext cx="6656594" cy="1157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2100" dirty="0">
                <a:solidFill>
                  <a:srgbClr val="5A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Motivo registrado: padrão concreto de fan-in, 5 PIX distintos com valores semelhantes convergindo em cust-214 — condizente com atividade de coleta/mula.</a:t>
            </a:r>
            <a:endParaRPr lang="en-US" sz="2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14400"/>
            <a:ext cx="180213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spc="252" kern="0" dirty="0">
                <a:solidFill>
                  <a:srgbClr val="B45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RELATÓRIO ALERT-AUTO-CUST-214 · TABELA DE EVIDÊNCIAS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524000"/>
            <a:ext cx="18021300" cy="696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405"/>
              </a:lnSpc>
              <a:buNone/>
            </a:pPr>
            <a:r>
              <a:rPr lang="en-US" sz="4800" b="1" spc="-96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linha da decisão é rastreável até o grafo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3066157"/>
            <a:ext cx="2476500" cy="1905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2639467"/>
            <a:ext cx="2552700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1800" spc="108" kern="0" dirty="0">
                <a:solidFill>
                  <a:srgbClr val="5A56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TIPO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733800" y="3066157"/>
            <a:ext cx="3810000" cy="1905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7" name="Text 5"/>
          <p:cNvSpPr/>
          <p:nvPr/>
        </p:nvSpPr>
        <p:spPr>
          <a:xfrm>
            <a:off x="3733800" y="2639467"/>
            <a:ext cx="3924300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1800" spc="108" kern="0" dirty="0">
                <a:solidFill>
                  <a:srgbClr val="5A56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CONTRAPARTE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848600" y="3066157"/>
            <a:ext cx="7658100" cy="1905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9" name="Text 7"/>
          <p:cNvSpPr/>
          <p:nvPr/>
        </p:nvSpPr>
        <p:spPr>
          <a:xfrm>
            <a:off x="7848600" y="2639467"/>
            <a:ext cx="7887843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1800" spc="108" kern="0" dirty="0">
                <a:solidFill>
                  <a:srgbClr val="5A56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DETALHE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5811500" y="3066157"/>
            <a:ext cx="1524000" cy="1905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1" name="Text 9"/>
          <p:cNvSpPr/>
          <p:nvPr/>
        </p:nvSpPr>
        <p:spPr>
          <a:xfrm>
            <a:off x="15811500" y="2639467"/>
            <a:ext cx="1600200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1800" spc="108" kern="0" dirty="0">
                <a:solidFill>
                  <a:srgbClr val="5A56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ORIGEM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52500" y="3812828"/>
            <a:ext cx="2476500" cy="9525"/>
          </a:xfrm>
          <a:prstGeom prst="rect">
            <a:avLst/>
          </a:prstGeom>
          <a:solidFill>
            <a:srgbClr val="D7D1C9"/>
          </a:solidFill>
          <a:ln/>
        </p:spPr>
      </p:sp>
      <p:sp>
        <p:nvSpPr>
          <p:cNvPr id="13" name="Text 11"/>
          <p:cNvSpPr/>
          <p:nvPr/>
        </p:nvSpPr>
        <p:spPr>
          <a:xfrm>
            <a:off x="952500" y="3275707"/>
            <a:ext cx="2552700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50"/>
              </a:lnSpc>
              <a:buNone/>
            </a:pPr>
            <a:r>
              <a:rPr lang="en-US" sz="21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PIX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3733800" y="3812828"/>
            <a:ext cx="3810000" cy="9525"/>
          </a:xfrm>
          <a:prstGeom prst="rect">
            <a:avLst/>
          </a:prstGeom>
          <a:solidFill>
            <a:srgbClr val="D7D1C9"/>
          </a:solidFill>
          <a:ln/>
        </p:spPr>
      </p:sp>
      <p:sp>
        <p:nvSpPr>
          <p:cNvPr id="15" name="Text 13"/>
          <p:cNvSpPr/>
          <p:nvPr/>
        </p:nvSpPr>
        <p:spPr>
          <a:xfrm>
            <a:off x="3733800" y="3275707"/>
            <a:ext cx="3924300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419"/>
              </a:lnSpc>
              <a:buNone/>
            </a:pPr>
            <a:r>
              <a:rPr lang="en-US" sz="210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acct-214-c214s5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7848600" y="3812828"/>
            <a:ext cx="7658100" cy="9525"/>
          </a:xfrm>
          <a:prstGeom prst="rect">
            <a:avLst/>
          </a:prstGeom>
          <a:solidFill>
            <a:srgbClr val="D7D1C9"/>
          </a:solidFill>
          <a:ln/>
        </p:spPr>
      </p:sp>
      <p:sp>
        <p:nvSpPr>
          <p:cNvPr id="17" name="Text 15"/>
          <p:cNvSpPr/>
          <p:nvPr/>
        </p:nvSpPr>
        <p:spPr>
          <a:xfrm>
            <a:off x="7848600" y="3275707"/>
            <a:ext cx="7887843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50"/>
              </a:lnSpc>
              <a:buNone/>
            </a:pPr>
            <a:r>
              <a:rPr lang="en-US" sz="2100" dirty="0">
                <a:solidFill>
                  <a:srgbClr val="5A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Transferência PIX de BRL 936,16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15811500" y="3812828"/>
            <a:ext cx="1524000" cy="9525"/>
          </a:xfrm>
          <a:prstGeom prst="rect">
            <a:avLst/>
          </a:prstGeom>
          <a:solidFill>
            <a:srgbClr val="D7D1C9"/>
          </a:solidFill>
          <a:ln/>
        </p:spPr>
      </p:sp>
      <p:sp>
        <p:nvSpPr>
          <p:cNvPr id="19" name="Text 17"/>
          <p:cNvSpPr/>
          <p:nvPr/>
        </p:nvSpPr>
        <p:spPr>
          <a:xfrm>
            <a:off x="15811500" y="3275707"/>
            <a:ext cx="1600200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419"/>
              </a:lnSpc>
              <a:buNone/>
            </a:pPr>
            <a:r>
              <a:rPr lang="en-US" sz="2100" dirty="0">
                <a:solidFill>
                  <a:srgbClr val="5A56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neo4j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952500" y="4549973"/>
            <a:ext cx="2476500" cy="9525"/>
          </a:xfrm>
          <a:prstGeom prst="rect">
            <a:avLst/>
          </a:prstGeom>
          <a:solidFill>
            <a:srgbClr val="D7D1C9"/>
          </a:solidFill>
          <a:ln/>
        </p:spPr>
      </p:sp>
      <p:sp>
        <p:nvSpPr>
          <p:cNvPr id="21" name="Text 19"/>
          <p:cNvSpPr/>
          <p:nvPr/>
        </p:nvSpPr>
        <p:spPr>
          <a:xfrm>
            <a:off x="952500" y="4012853"/>
            <a:ext cx="2552700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50"/>
              </a:lnSpc>
              <a:buNone/>
            </a:pPr>
            <a:r>
              <a:rPr lang="en-US" sz="21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PIX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3733800" y="4549973"/>
            <a:ext cx="3810000" cy="9525"/>
          </a:xfrm>
          <a:prstGeom prst="rect">
            <a:avLst/>
          </a:prstGeom>
          <a:solidFill>
            <a:srgbClr val="D7D1C9"/>
          </a:solidFill>
          <a:ln/>
        </p:spPr>
      </p:sp>
      <p:sp>
        <p:nvSpPr>
          <p:cNvPr id="23" name="Text 21"/>
          <p:cNvSpPr/>
          <p:nvPr/>
        </p:nvSpPr>
        <p:spPr>
          <a:xfrm>
            <a:off x="3733800" y="4012853"/>
            <a:ext cx="3924300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419"/>
              </a:lnSpc>
              <a:buNone/>
            </a:pPr>
            <a:r>
              <a:rPr lang="en-US" sz="210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acct-214-c214s4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7848600" y="4549973"/>
            <a:ext cx="7658100" cy="9525"/>
          </a:xfrm>
          <a:prstGeom prst="rect">
            <a:avLst/>
          </a:prstGeom>
          <a:solidFill>
            <a:srgbClr val="D7D1C9"/>
          </a:solidFill>
          <a:ln/>
        </p:spPr>
      </p:sp>
      <p:sp>
        <p:nvSpPr>
          <p:cNvPr id="25" name="Text 23"/>
          <p:cNvSpPr/>
          <p:nvPr/>
        </p:nvSpPr>
        <p:spPr>
          <a:xfrm>
            <a:off x="7848600" y="4012853"/>
            <a:ext cx="7887843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50"/>
              </a:lnSpc>
              <a:buNone/>
            </a:pPr>
            <a:r>
              <a:rPr lang="en-US" sz="2100" dirty="0">
                <a:solidFill>
                  <a:srgbClr val="5A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Transferência PIX de BRL 947,91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15811500" y="4549973"/>
            <a:ext cx="1524000" cy="9525"/>
          </a:xfrm>
          <a:prstGeom prst="rect">
            <a:avLst/>
          </a:prstGeom>
          <a:solidFill>
            <a:srgbClr val="D7D1C9"/>
          </a:solidFill>
          <a:ln/>
        </p:spPr>
      </p:sp>
      <p:sp>
        <p:nvSpPr>
          <p:cNvPr id="27" name="Text 25"/>
          <p:cNvSpPr/>
          <p:nvPr/>
        </p:nvSpPr>
        <p:spPr>
          <a:xfrm>
            <a:off x="15811500" y="4012853"/>
            <a:ext cx="1600200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419"/>
              </a:lnSpc>
              <a:buNone/>
            </a:pPr>
            <a:r>
              <a:rPr lang="en-US" sz="2100" dirty="0">
                <a:solidFill>
                  <a:srgbClr val="5A56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neo4j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952500" y="5287119"/>
            <a:ext cx="2476500" cy="9525"/>
          </a:xfrm>
          <a:prstGeom prst="rect">
            <a:avLst/>
          </a:prstGeom>
          <a:solidFill>
            <a:srgbClr val="D7D1C9"/>
          </a:solidFill>
          <a:ln/>
        </p:spPr>
      </p:sp>
      <p:sp>
        <p:nvSpPr>
          <p:cNvPr id="29" name="Text 27"/>
          <p:cNvSpPr/>
          <p:nvPr/>
        </p:nvSpPr>
        <p:spPr>
          <a:xfrm>
            <a:off x="952500" y="4749998"/>
            <a:ext cx="2552700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50"/>
              </a:lnSpc>
              <a:buNone/>
            </a:pPr>
            <a:r>
              <a:rPr lang="en-US" sz="21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PIX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3733800" y="5287119"/>
            <a:ext cx="3810000" cy="9525"/>
          </a:xfrm>
          <a:prstGeom prst="rect">
            <a:avLst/>
          </a:prstGeom>
          <a:solidFill>
            <a:srgbClr val="D7D1C9"/>
          </a:solidFill>
          <a:ln/>
        </p:spPr>
      </p:sp>
      <p:sp>
        <p:nvSpPr>
          <p:cNvPr id="31" name="Text 29"/>
          <p:cNvSpPr/>
          <p:nvPr/>
        </p:nvSpPr>
        <p:spPr>
          <a:xfrm>
            <a:off x="3733800" y="4749998"/>
            <a:ext cx="3924300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419"/>
              </a:lnSpc>
              <a:buNone/>
            </a:pPr>
            <a:r>
              <a:rPr lang="en-US" sz="210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acct-214-c214s3</a:t>
            </a:r>
            <a:endParaRPr lang="en-US" sz="2100" dirty="0"/>
          </a:p>
        </p:txBody>
      </p:sp>
      <p:sp>
        <p:nvSpPr>
          <p:cNvPr id="32" name="Shape 30"/>
          <p:cNvSpPr/>
          <p:nvPr/>
        </p:nvSpPr>
        <p:spPr>
          <a:xfrm>
            <a:off x="7848600" y="5287119"/>
            <a:ext cx="7658100" cy="9525"/>
          </a:xfrm>
          <a:prstGeom prst="rect">
            <a:avLst/>
          </a:prstGeom>
          <a:solidFill>
            <a:srgbClr val="D7D1C9"/>
          </a:solidFill>
          <a:ln/>
        </p:spPr>
      </p:sp>
      <p:sp>
        <p:nvSpPr>
          <p:cNvPr id="33" name="Text 31"/>
          <p:cNvSpPr/>
          <p:nvPr/>
        </p:nvSpPr>
        <p:spPr>
          <a:xfrm>
            <a:off x="7848600" y="4749998"/>
            <a:ext cx="7887843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50"/>
              </a:lnSpc>
              <a:buNone/>
            </a:pPr>
            <a:r>
              <a:rPr lang="en-US" sz="2100" dirty="0">
                <a:solidFill>
                  <a:srgbClr val="5A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Transferência PIX de BRL 950,84</a:t>
            </a:r>
            <a:endParaRPr lang="en-US" sz="2100" dirty="0"/>
          </a:p>
        </p:txBody>
      </p:sp>
      <p:sp>
        <p:nvSpPr>
          <p:cNvPr id="34" name="Shape 32"/>
          <p:cNvSpPr/>
          <p:nvPr/>
        </p:nvSpPr>
        <p:spPr>
          <a:xfrm>
            <a:off x="15811500" y="5287119"/>
            <a:ext cx="1524000" cy="9525"/>
          </a:xfrm>
          <a:prstGeom prst="rect">
            <a:avLst/>
          </a:prstGeom>
          <a:solidFill>
            <a:srgbClr val="D7D1C9"/>
          </a:solidFill>
          <a:ln/>
        </p:spPr>
      </p:sp>
      <p:sp>
        <p:nvSpPr>
          <p:cNvPr id="35" name="Text 33"/>
          <p:cNvSpPr/>
          <p:nvPr/>
        </p:nvSpPr>
        <p:spPr>
          <a:xfrm>
            <a:off x="15811500" y="4749998"/>
            <a:ext cx="1600200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419"/>
              </a:lnSpc>
              <a:buNone/>
            </a:pPr>
            <a:r>
              <a:rPr lang="en-US" sz="2100" dirty="0">
                <a:solidFill>
                  <a:srgbClr val="5A56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neo4j</a:t>
            </a:r>
            <a:endParaRPr lang="en-US" sz="2100" dirty="0"/>
          </a:p>
        </p:txBody>
      </p:sp>
      <p:sp>
        <p:nvSpPr>
          <p:cNvPr id="36" name="Shape 34"/>
          <p:cNvSpPr/>
          <p:nvPr/>
        </p:nvSpPr>
        <p:spPr>
          <a:xfrm>
            <a:off x="952500" y="6024265"/>
            <a:ext cx="2476500" cy="9525"/>
          </a:xfrm>
          <a:prstGeom prst="rect">
            <a:avLst/>
          </a:prstGeom>
          <a:solidFill>
            <a:srgbClr val="D7D1C9"/>
          </a:solidFill>
          <a:ln/>
        </p:spPr>
      </p:sp>
      <p:sp>
        <p:nvSpPr>
          <p:cNvPr id="37" name="Text 35"/>
          <p:cNvSpPr/>
          <p:nvPr/>
        </p:nvSpPr>
        <p:spPr>
          <a:xfrm>
            <a:off x="952500" y="5487144"/>
            <a:ext cx="2552700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50"/>
              </a:lnSpc>
              <a:buNone/>
            </a:pPr>
            <a:r>
              <a:rPr lang="en-US" sz="21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PIX</a:t>
            </a:r>
            <a:endParaRPr lang="en-US" sz="2100" dirty="0"/>
          </a:p>
        </p:txBody>
      </p:sp>
      <p:sp>
        <p:nvSpPr>
          <p:cNvPr id="38" name="Shape 36"/>
          <p:cNvSpPr/>
          <p:nvPr/>
        </p:nvSpPr>
        <p:spPr>
          <a:xfrm>
            <a:off x="3733800" y="6024265"/>
            <a:ext cx="3810000" cy="9525"/>
          </a:xfrm>
          <a:prstGeom prst="rect">
            <a:avLst/>
          </a:prstGeom>
          <a:solidFill>
            <a:srgbClr val="D7D1C9"/>
          </a:solidFill>
          <a:ln/>
        </p:spPr>
      </p:sp>
      <p:sp>
        <p:nvSpPr>
          <p:cNvPr id="39" name="Text 37"/>
          <p:cNvSpPr/>
          <p:nvPr/>
        </p:nvSpPr>
        <p:spPr>
          <a:xfrm>
            <a:off x="3733800" y="5487144"/>
            <a:ext cx="3924300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419"/>
              </a:lnSpc>
              <a:buNone/>
            </a:pPr>
            <a:r>
              <a:rPr lang="en-US" sz="210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acct-214-c214s2</a:t>
            </a:r>
            <a:endParaRPr lang="en-US" sz="2100" dirty="0"/>
          </a:p>
        </p:txBody>
      </p:sp>
      <p:sp>
        <p:nvSpPr>
          <p:cNvPr id="40" name="Shape 38"/>
          <p:cNvSpPr/>
          <p:nvPr/>
        </p:nvSpPr>
        <p:spPr>
          <a:xfrm>
            <a:off x="7848600" y="6024265"/>
            <a:ext cx="7658100" cy="9525"/>
          </a:xfrm>
          <a:prstGeom prst="rect">
            <a:avLst/>
          </a:prstGeom>
          <a:solidFill>
            <a:srgbClr val="D7D1C9"/>
          </a:solidFill>
          <a:ln/>
        </p:spPr>
      </p:sp>
      <p:sp>
        <p:nvSpPr>
          <p:cNvPr id="41" name="Text 39"/>
          <p:cNvSpPr/>
          <p:nvPr/>
        </p:nvSpPr>
        <p:spPr>
          <a:xfrm>
            <a:off x="7848600" y="5487144"/>
            <a:ext cx="7887843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50"/>
              </a:lnSpc>
              <a:buNone/>
            </a:pPr>
            <a:r>
              <a:rPr lang="en-US" sz="2100" dirty="0">
                <a:solidFill>
                  <a:srgbClr val="5A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Transferência PIX de BRL 954,71</a:t>
            </a:r>
            <a:endParaRPr lang="en-US" sz="2100" dirty="0"/>
          </a:p>
        </p:txBody>
      </p:sp>
      <p:sp>
        <p:nvSpPr>
          <p:cNvPr id="42" name="Shape 40"/>
          <p:cNvSpPr/>
          <p:nvPr/>
        </p:nvSpPr>
        <p:spPr>
          <a:xfrm>
            <a:off x="15811500" y="6024265"/>
            <a:ext cx="1524000" cy="9525"/>
          </a:xfrm>
          <a:prstGeom prst="rect">
            <a:avLst/>
          </a:prstGeom>
          <a:solidFill>
            <a:srgbClr val="D7D1C9"/>
          </a:solidFill>
          <a:ln/>
        </p:spPr>
      </p:sp>
      <p:sp>
        <p:nvSpPr>
          <p:cNvPr id="43" name="Text 41"/>
          <p:cNvSpPr/>
          <p:nvPr/>
        </p:nvSpPr>
        <p:spPr>
          <a:xfrm>
            <a:off x="15811500" y="5487144"/>
            <a:ext cx="1600200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419"/>
              </a:lnSpc>
              <a:buNone/>
            </a:pPr>
            <a:r>
              <a:rPr lang="en-US" sz="2100" dirty="0">
                <a:solidFill>
                  <a:srgbClr val="5A56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neo4j</a:t>
            </a:r>
            <a:endParaRPr lang="en-US" sz="2100" dirty="0"/>
          </a:p>
        </p:txBody>
      </p:sp>
      <p:sp>
        <p:nvSpPr>
          <p:cNvPr id="44" name="Shape 42"/>
          <p:cNvSpPr/>
          <p:nvPr/>
        </p:nvSpPr>
        <p:spPr>
          <a:xfrm>
            <a:off x="952500" y="6761411"/>
            <a:ext cx="2476500" cy="9525"/>
          </a:xfrm>
          <a:prstGeom prst="rect">
            <a:avLst/>
          </a:prstGeom>
          <a:solidFill>
            <a:srgbClr val="D7D1C9"/>
          </a:solidFill>
          <a:ln/>
        </p:spPr>
      </p:sp>
      <p:sp>
        <p:nvSpPr>
          <p:cNvPr id="45" name="Text 43"/>
          <p:cNvSpPr/>
          <p:nvPr/>
        </p:nvSpPr>
        <p:spPr>
          <a:xfrm>
            <a:off x="952500" y="6224290"/>
            <a:ext cx="2552700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50"/>
              </a:lnSpc>
              <a:buNone/>
            </a:pPr>
            <a:r>
              <a:rPr lang="en-US" sz="21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PIX</a:t>
            </a:r>
            <a:endParaRPr lang="en-US" sz="2100" dirty="0"/>
          </a:p>
        </p:txBody>
      </p:sp>
      <p:sp>
        <p:nvSpPr>
          <p:cNvPr id="46" name="Shape 44"/>
          <p:cNvSpPr/>
          <p:nvPr/>
        </p:nvSpPr>
        <p:spPr>
          <a:xfrm>
            <a:off x="3733800" y="6761411"/>
            <a:ext cx="3810000" cy="9525"/>
          </a:xfrm>
          <a:prstGeom prst="rect">
            <a:avLst/>
          </a:prstGeom>
          <a:solidFill>
            <a:srgbClr val="D7D1C9"/>
          </a:solidFill>
          <a:ln/>
        </p:spPr>
      </p:sp>
      <p:sp>
        <p:nvSpPr>
          <p:cNvPr id="47" name="Text 45"/>
          <p:cNvSpPr/>
          <p:nvPr/>
        </p:nvSpPr>
        <p:spPr>
          <a:xfrm>
            <a:off x="3733800" y="6224290"/>
            <a:ext cx="3924300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419"/>
              </a:lnSpc>
              <a:buNone/>
            </a:pPr>
            <a:r>
              <a:rPr lang="en-US" sz="210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acct-214-c214s1</a:t>
            </a:r>
            <a:endParaRPr lang="en-US" sz="2100" dirty="0"/>
          </a:p>
        </p:txBody>
      </p:sp>
      <p:sp>
        <p:nvSpPr>
          <p:cNvPr id="48" name="Shape 46"/>
          <p:cNvSpPr/>
          <p:nvPr/>
        </p:nvSpPr>
        <p:spPr>
          <a:xfrm>
            <a:off x="7848600" y="6761411"/>
            <a:ext cx="7658100" cy="9525"/>
          </a:xfrm>
          <a:prstGeom prst="rect">
            <a:avLst/>
          </a:prstGeom>
          <a:solidFill>
            <a:srgbClr val="D7D1C9"/>
          </a:solidFill>
          <a:ln/>
        </p:spPr>
      </p:sp>
      <p:sp>
        <p:nvSpPr>
          <p:cNvPr id="49" name="Text 47"/>
          <p:cNvSpPr/>
          <p:nvPr/>
        </p:nvSpPr>
        <p:spPr>
          <a:xfrm>
            <a:off x="7848600" y="6224290"/>
            <a:ext cx="7887843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50"/>
              </a:lnSpc>
              <a:buNone/>
            </a:pPr>
            <a:r>
              <a:rPr lang="en-US" sz="2100" dirty="0">
                <a:solidFill>
                  <a:srgbClr val="5A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Transferência PIX de BRL 958,15</a:t>
            </a:r>
            <a:endParaRPr lang="en-US" sz="2100" dirty="0"/>
          </a:p>
        </p:txBody>
      </p:sp>
      <p:sp>
        <p:nvSpPr>
          <p:cNvPr id="50" name="Shape 48"/>
          <p:cNvSpPr/>
          <p:nvPr/>
        </p:nvSpPr>
        <p:spPr>
          <a:xfrm>
            <a:off x="15811500" y="6761411"/>
            <a:ext cx="1524000" cy="9525"/>
          </a:xfrm>
          <a:prstGeom prst="rect">
            <a:avLst/>
          </a:prstGeom>
          <a:solidFill>
            <a:srgbClr val="D7D1C9"/>
          </a:solidFill>
          <a:ln/>
        </p:spPr>
      </p:sp>
      <p:sp>
        <p:nvSpPr>
          <p:cNvPr id="51" name="Text 49"/>
          <p:cNvSpPr/>
          <p:nvPr/>
        </p:nvSpPr>
        <p:spPr>
          <a:xfrm>
            <a:off x="15811500" y="6224290"/>
            <a:ext cx="1600200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419"/>
              </a:lnSpc>
              <a:buNone/>
            </a:pPr>
            <a:r>
              <a:rPr lang="en-US" sz="2100" dirty="0">
                <a:solidFill>
                  <a:srgbClr val="5A56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neo4j</a:t>
            </a:r>
            <a:endParaRPr lang="en-US" sz="2100" dirty="0"/>
          </a:p>
        </p:txBody>
      </p:sp>
      <p:sp>
        <p:nvSpPr>
          <p:cNvPr id="52" name="Shape 50"/>
          <p:cNvSpPr/>
          <p:nvPr/>
        </p:nvSpPr>
        <p:spPr>
          <a:xfrm>
            <a:off x="952500" y="7845177"/>
            <a:ext cx="2476500" cy="19050"/>
          </a:xfrm>
          <a:prstGeom prst="rect">
            <a:avLst/>
          </a:prstGeom>
          <a:solidFill>
            <a:srgbClr val="EC6F00"/>
          </a:solidFill>
          <a:ln/>
        </p:spPr>
      </p:sp>
      <p:sp>
        <p:nvSpPr>
          <p:cNvPr id="53" name="Text 51"/>
          <p:cNvSpPr/>
          <p:nvPr/>
        </p:nvSpPr>
        <p:spPr>
          <a:xfrm>
            <a:off x="952500" y="6961436"/>
            <a:ext cx="2552700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50"/>
              </a:lnSpc>
              <a:buNone/>
            </a:pPr>
            <a:r>
              <a:rPr lang="en-US" sz="2100" dirty="0">
                <a:solidFill>
                  <a:srgbClr val="B45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Estruturação (fan-in)</a:t>
            </a:r>
            <a:endParaRPr lang="en-US" sz="2100" dirty="0"/>
          </a:p>
        </p:txBody>
      </p:sp>
      <p:sp>
        <p:nvSpPr>
          <p:cNvPr id="54" name="Shape 52"/>
          <p:cNvSpPr/>
          <p:nvPr/>
        </p:nvSpPr>
        <p:spPr>
          <a:xfrm>
            <a:off x="3733800" y="7845177"/>
            <a:ext cx="3810000" cy="19050"/>
          </a:xfrm>
          <a:prstGeom prst="rect">
            <a:avLst/>
          </a:prstGeom>
          <a:solidFill>
            <a:srgbClr val="EC6F00"/>
          </a:solidFill>
          <a:ln/>
        </p:spPr>
      </p:sp>
      <p:sp>
        <p:nvSpPr>
          <p:cNvPr id="55" name="Text 53"/>
          <p:cNvSpPr/>
          <p:nvPr/>
        </p:nvSpPr>
        <p:spPr>
          <a:xfrm>
            <a:off x="3733800" y="6961436"/>
            <a:ext cx="3924300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419"/>
              </a:lnSpc>
              <a:buNone/>
            </a:pPr>
            <a:r>
              <a:rPr lang="en-US" sz="210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cust-214</a:t>
            </a:r>
            <a:endParaRPr lang="en-US" sz="2100" dirty="0"/>
          </a:p>
        </p:txBody>
      </p:sp>
      <p:sp>
        <p:nvSpPr>
          <p:cNvPr id="56" name="Shape 54"/>
          <p:cNvSpPr/>
          <p:nvPr/>
        </p:nvSpPr>
        <p:spPr>
          <a:xfrm>
            <a:off x="7848600" y="7845177"/>
            <a:ext cx="7658100" cy="19050"/>
          </a:xfrm>
          <a:prstGeom prst="rect">
            <a:avLst/>
          </a:prstGeom>
          <a:solidFill>
            <a:srgbClr val="EC6F00"/>
          </a:solidFill>
          <a:ln/>
        </p:spPr>
      </p:sp>
      <p:sp>
        <p:nvSpPr>
          <p:cNvPr id="57" name="Text 55"/>
          <p:cNvSpPr/>
          <p:nvPr/>
        </p:nvSpPr>
        <p:spPr>
          <a:xfrm>
            <a:off x="7848600" y="6961436"/>
            <a:ext cx="7887843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50"/>
              </a:lnSpc>
              <a:buNone/>
            </a:pPr>
            <a:r>
              <a:rPr lang="en-US" sz="2100" dirty="0">
                <a:solidFill>
                  <a:srgbClr val="5A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entradas distintas convergindo para esta conta</a:t>
            </a:r>
            <a:endParaRPr lang="en-US" sz="2100" dirty="0"/>
          </a:p>
        </p:txBody>
      </p:sp>
      <p:sp>
        <p:nvSpPr>
          <p:cNvPr id="58" name="Shape 56"/>
          <p:cNvSpPr/>
          <p:nvPr/>
        </p:nvSpPr>
        <p:spPr>
          <a:xfrm>
            <a:off x="15811500" y="7845177"/>
            <a:ext cx="1524000" cy="19050"/>
          </a:xfrm>
          <a:prstGeom prst="rect">
            <a:avLst/>
          </a:prstGeom>
          <a:solidFill>
            <a:srgbClr val="EC6F00"/>
          </a:solidFill>
          <a:ln/>
        </p:spPr>
      </p:sp>
      <p:sp>
        <p:nvSpPr>
          <p:cNvPr id="59" name="Text 57"/>
          <p:cNvSpPr/>
          <p:nvPr/>
        </p:nvSpPr>
        <p:spPr>
          <a:xfrm>
            <a:off x="15811500" y="6961436"/>
            <a:ext cx="1600200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419"/>
              </a:lnSpc>
              <a:buNone/>
            </a:pPr>
            <a:r>
              <a:rPr lang="en-US" sz="2100" dirty="0">
                <a:solidFill>
                  <a:srgbClr val="5A56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neo4j</a:t>
            </a:r>
            <a:endParaRPr lang="en-US" sz="2100" dirty="0"/>
          </a:p>
        </p:txBody>
      </p:sp>
      <p:sp>
        <p:nvSpPr>
          <p:cNvPr id="60" name="Text 58"/>
          <p:cNvSpPr/>
          <p:nvPr/>
        </p:nvSpPr>
        <p:spPr>
          <a:xfrm>
            <a:off x="952500" y="9151739"/>
            <a:ext cx="18021300" cy="411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2100" dirty="0">
                <a:solidFill>
                  <a:srgbClr val="5A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Cinco fatos e um veredito estrutural: é essa última linha que classifica o caso como high e dispara a revisão humana.</a:t>
            </a:r>
            <a:endParaRPr lang="en-US" sz="2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14400"/>
            <a:ext cx="180213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spc="252" kern="0" dirty="0">
                <a:solidFill>
                  <a:srgbClr val="B45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AUDITORIA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524000"/>
            <a:ext cx="18021300" cy="696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405"/>
              </a:lnSpc>
              <a:buNone/>
            </a:pPr>
            <a:r>
              <a:rPr lang="en-US" sz="4800" b="1" spc="-96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 imutável e relatório reprodutível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52500" y="3444180"/>
            <a:ext cx="6879942" cy="18514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051"/>
              </a:lnSpc>
              <a:buNone/>
            </a:pPr>
            <a:r>
              <a:rPr lang="en-US" sz="2550" dirty="0">
                <a:solidFill>
                  <a:srgbClr val="5A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um alerta é criado, evidência, risco e insight são gravados juntos como um snapshot imutável — separado do Neo4j, que segue vivo e mutável.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952500" y="5524202"/>
            <a:ext cx="6879942" cy="1398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051"/>
              </a:lnSpc>
              <a:buNone/>
            </a:pPr>
            <a:r>
              <a:rPr lang="en-US" sz="2550" dirty="0">
                <a:solidFill>
                  <a:srgbClr val="5A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relatório em português lê </a:t>
            </a:r>
            <a:pPr algn="l" indent="0" marL="0">
              <a:lnSpc>
                <a:spcPct val="122051"/>
              </a:lnSpc>
              <a:buNone/>
            </a:pPr>
            <a:r>
              <a:rPr lang="en-US" sz="25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só </a:t>
            </a:r>
            <a:pPr algn="l" indent="0" marL="0">
              <a:lnSpc>
                <a:spcPct val="122051"/>
              </a:lnSpc>
              <a:buNone/>
            </a:pPr>
            <a:r>
              <a:rPr lang="en-US" sz="2550" dirty="0">
                <a:solidFill>
                  <a:srgbClr val="5A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 snapshot: sem nova chamada a LLM ou Neo4j, e portanto imune a re-triagem e drift.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952500" y="7150894"/>
            <a:ext cx="6879942" cy="15311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2100" dirty="0">
                <a:solidFill>
                  <a:srgbClr val="5A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Quatro snapshots persistidos hoje — cust-129, cust-200, cust-207 e cust-214 — cada um com o motivo que gerou o alerta. Falha ao gravar não derruba a investigação: é best-effort e logada.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8317855" y="2563267"/>
            <a:ext cx="9017645" cy="6512272"/>
          </a:xfrm>
          <a:prstGeom prst="roundRect">
            <a:avLst>
              <a:gd name="adj" fmla="val 1463"/>
            </a:avLst>
          </a:prstGeom>
          <a:solidFill>
            <a:srgbClr val="141414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-1" r="-1" t="0" b="0"/>
          <a:stretch/>
        </p:blipFill>
        <p:spPr>
          <a:xfrm>
            <a:off x="8470255" y="4094857"/>
            <a:ext cx="8712845" cy="344894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317855" y="9227939"/>
            <a:ext cx="9919409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56"/>
              </a:lnSpc>
              <a:buNone/>
            </a:pPr>
            <a:r>
              <a:rPr lang="en-US" sz="1800" dirty="0">
                <a:solidFill>
                  <a:srgbClr val="5A56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dynamodb-admin · tabela aml-alert-snapshots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14400"/>
            <a:ext cx="180213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spc="252" kern="0" dirty="0">
                <a:solidFill>
                  <a:srgbClr val="B45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CONFIGURAÇÃO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638300"/>
            <a:ext cx="18021300" cy="696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405"/>
              </a:lnSpc>
              <a:buNone/>
            </a:pPr>
            <a:r>
              <a:rPr lang="en-US" sz="4800" b="1" spc="-96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Multi-provedor e bilíngue, tudo por variável de ambiente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2906167"/>
            <a:ext cx="16383000" cy="9525"/>
          </a:xfrm>
          <a:prstGeom prst="rect">
            <a:avLst/>
          </a:prstGeom>
          <a:solidFill>
            <a:srgbClr val="D7D1C9"/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3239542"/>
            <a:ext cx="3924300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628"/>
              </a:lnSpc>
              <a:buNone/>
            </a:pPr>
            <a:r>
              <a:rPr lang="en-US" sz="28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Troca de provedor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5295900" y="3239542"/>
            <a:ext cx="12400788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051"/>
              </a:lnSpc>
              <a:buNone/>
            </a:pPr>
            <a:r>
              <a:rPr lang="en-US" sz="2550" dirty="0">
                <a:solidFill>
                  <a:srgbClr val="5A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Claude ou OpenAI GPT sem alterar código — provedor e modelo vêm do </a:t>
            </a:r>
            <a:pPr algn="l" indent="0" marL="0">
              <a:lnSpc>
                <a:spcPct val="122051"/>
              </a:lnSpc>
              <a:buNone/>
            </a:pPr>
            <a:r>
              <a:rPr lang="en-US" sz="22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</a:t>
            </a:r>
            <a:pPr algn="l" indent="0" marL="0">
              <a:lnSpc>
                <a:spcPct val="122051"/>
              </a:lnSpc>
              <a:buNone/>
            </a:pPr>
            <a:r>
              <a:rPr lang="en-US" sz="2550" dirty="0">
                <a:solidFill>
                  <a:srgbClr val="5A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52500" y="4470053"/>
            <a:ext cx="16383000" cy="9525"/>
          </a:xfrm>
          <a:prstGeom prst="rect">
            <a:avLst/>
          </a:prstGeom>
          <a:solidFill>
            <a:srgbClr val="D7D1C9"/>
          </a:solidFill>
          <a:ln/>
        </p:spPr>
      </p:sp>
      <p:sp>
        <p:nvSpPr>
          <p:cNvPr id="8" name="Text 6"/>
          <p:cNvSpPr/>
          <p:nvPr/>
        </p:nvSpPr>
        <p:spPr>
          <a:xfrm>
            <a:off x="952500" y="4803428"/>
            <a:ext cx="3924300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628"/>
              </a:lnSpc>
              <a:buNone/>
            </a:pPr>
            <a:r>
              <a:rPr lang="en-US" sz="28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 effort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5295900" y="4803428"/>
            <a:ext cx="12400788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051"/>
              </a:lnSpc>
              <a:buNone/>
            </a:pPr>
            <a:r>
              <a:rPr lang="en-US" sz="2550" dirty="0">
                <a:solidFill>
                  <a:srgbClr val="5A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Suporte a raciocínio mais aprofundado antes de responder, nos modelos que oferecem o parâmetro.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52500" y="6033939"/>
            <a:ext cx="16383000" cy="9525"/>
          </a:xfrm>
          <a:prstGeom prst="rect">
            <a:avLst/>
          </a:prstGeom>
          <a:solidFill>
            <a:srgbClr val="D7D1C9"/>
          </a:solidFill>
          <a:ln/>
        </p:spPr>
      </p:sp>
      <p:sp>
        <p:nvSpPr>
          <p:cNvPr id="11" name="Text 9"/>
          <p:cNvSpPr/>
          <p:nvPr/>
        </p:nvSpPr>
        <p:spPr>
          <a:xfrm>
            <a:off x="952500" y="6367314"/>
            <a:ext cx="3924300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628"/>
              </a:lnSpc>
              <a:buNone/>
            </a:pPr>
            <a:r>
              <a:rPr lang="en-US" sz="28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Bilíngue numa chamada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5295900" y="6367314"/>
            <a:ext cx="12400788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051"/>
              </a:lnSpc>
              <a:buNone/>
            </a:pPr>
            <a:r>
              <a:rPr lang="en-US" sz="2550" dirty="0">
                <a:solidFill>
                  <a:srgbClr val="5A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mesma resposta traz campos em inglês (fonte de verdade, gravada no Neo4j) e em português (usados no relatório) — sem chamada extra.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52500" y="9161711"/>
            <a:ext cx="16383000" cy="9525"/>
          </a:xfrm>
          <a:prstGeom prst="rect">
            <a:avLst/>
          </a:prstGeom>
          <a:solidFill>
            <a:srgbClr val="D7D1C9"/>
          </a:solidFill>
          <a:ln/>
        </p:spPr>
      </p:sp>
      <p:sp>
        <p:nvSpPr>
          <p:cNvPr id="14" name="Shape 12"/>
          <p:cNvSpPr/>
          <p:nvPr/>
        </p:nvSpPr>
        <p:spPr>
          <a:xfrm>
            <a:off x="952500" y="7597825"/>
            <a:ext cx="16383000" cy="9525"/>
          </a:xfrm>
          <a:prstGeom prst="rect">
            <a:avLst/>
          </a:prstGeom>
          <a:solidFill>
            <a:srgbClr val="D7D1C9"/>
          </a:solidFill>
          <a:ln/>
        </p:spPr>
      </p:sp>
      <p:sp>
        <p:nvSpPr>
          <p:cNvPr id="15" name="Text 13"/>
          <p:cNvSpPr/>
          <p:nvPr/>
        </p:nvSpPr>
        <p:spPr>
          <a:xfrm>
            <a:off x="952500" y="7931200"/>
            <a:ext cx="3924300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628"/>
              </a:lnSpc>
              <a:buNone/>
            </a:pPr>
            <a:r>
              <a:rPr lang="en-US" sz="28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 estruturado</a:t>
            </a:r>
            <a:endParaRPr lang="en-US" sz="2850" dirty="0"/>
          </a:p>
        </p:txBody>
      </p:sp>
      <p:sp>
        <p:nvSpPr>
          <p:cNvPr id="16" name="Text 14"/>
          <p:cNvSpPr/>
          <p:nvPr/>
        </p:nvSpPr>
        <p:spPr>
          <a:xfrm>
            <a:off x="5295900" y="7931200"/>
            <a:ext cx="12400788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051"/>
              </a:lnSpc>
              <a:buNone/>
            </a:pPr>
            <a:r>
              <a:rPr lang="en-US" sz="2550" dirty="0">
                <a:solidFill>
                  <a:srgbClr val="5A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saída do modelo obedece a um schema JSON, não é texto livre — é o que permite tratá-la como dado confiável no pipeline.</a:t>
            </a:r>
            <a:endParaRPr lang="en-US" sz="25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14400"/>
            <a:ext cx="180213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spc="252" kern="0" dirty="0">
                <a:solidFill>
                  <a:srgbClr val="B45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LIMITES CONHECIDOS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638300"/>
            <a:ext cx="18021300" cy="696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405"/>
              </a:lnSpc>
              <a:buNone/>
            </a:pPr>
            <a:r>
              <a:rPr lang="en-US" sz="4800" b="1" spc="-96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Trade-offs assumidos, não bugs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52500" y="2906167"/>
            <a:ext cx="867537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dirty="0">
                <a:solidFill>
                  <a:srgbClr val="5A56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Persistência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52500" y="3268117"/>
            <a:ext cx="867537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375"/>
              </a:lnSpc>
              <a:buNone/>
            </a:pPr>
            <a:r>
              <a:rPr lang="en-US" sz="2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DynamoDB Local em modo in-memory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52500" y="3734842"/>
            <a:ext cx="8123301" cy="1157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2100" dirty="0">
                <a:solidFill>
                  <a:srgbClr val="5A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Evita um bug de permissão de arquivo com volumes nomeados no Docker Desktop, mas perde dados ao reiniciar o container — mitigado por um comando de seed.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448800" y="2906167"/>
            <a:ext cx="867537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dirty="0">
                <a:solidFill>
                  <a:srgbClr val="5A56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Retomada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448800" y="3268117"/>
            <a:ext cx="867537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375"/>
              </a:lnSpc>
              <a:buNone/>
            </a:pPr>
            <a:r>
              <a:rPr lang="en-US" sz="2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Checkpointer em memória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448800" y="3734842"/>
            <a:ext cx="8123301" cy="1157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2100" dirty="0">
                <a:solidFill>
                  <a:srgbClr val="5A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Retomar uma pausa só funciona dentro do mesmo processo; retomar entre invocações separadas da CLI exigiria um checkpointer durável.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52500" y="5273725"/>
            <a:ext cx="867537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dirty="0">
                <a:solidFill>
                  <a:srgbClr val="5A56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Observado ao vivo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52500" y="5635675"/>
            <a:ext cx="867537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375"/>
              </a:lnSpc>
              <a:buNone/>
            </a:pPr>
            <a:r>
              <a:rPr lang="en-US" sz="2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Avisos de depreciação do LangGraph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52500" y="6102400"/>
            <a:ext cx="8123301" cy="1157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2100" dirty="0">
                <a:solidFill>
                  <a:srgbClr val="5A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desserializar dataclasses próprias do checkpoint — EvidenceItem, AlertRecord, RiskAssessment, InsightResult. Não quebra nada hoje, mas é ponto de atenção.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448800" y="5273725"/>
            <a:ext cx="867537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dirty="0">
                <a:solidFill>
                  <a:srgbClr val="5A56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Escopo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448800" y="5635675"/>
            <a:ext cx="867537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375"/>
              </a:lnSpc>
              <a:buNone/>
            </a:pPr>
            <a:r>
              <a:rPr lang="en-US" sz="2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fictício e pequeno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9448800" y="6102400"/>
            <a:ext cx="8123301" cy="784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2100" dirty="0">
                <a:solidFill>
                  <a:srgbClr val="5A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Sintético de propósito. Não é substituto para dados de produção nem para os controles de compliance existentes.</a:t>
            </a:r>
            <a:endParaRPr lang="en-US" sz="2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14400"/>
            <a:ext cx="180213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spc="252" kern="0" dirty="0">
                <a:solidFill>
                  <a:srgbClr val="B45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EVOLUÇÃO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638300"/>
            <a:ext cx="18021300" cy="696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405"/>
              </a:lnSpc>
              <a:buNone/>
            </a:pPr>
            <a:r>
              <a:rPr lang="en-US" sz="4800" b="1" spc="-96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passos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2982367"/>
            <a:ext cx="16383000" cy="9525"/>
          </a:xfrm>
          <a:prstGeom prst="rect">
            <a:avLst/>
          </a:prstGeom>
          <a:solidFill>
            <a:srgbClr val="D7D1C9"/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3458617"/>
            <a:ext cx="12192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300" dirty="0">
                <a:solidFill>
                  <a:srgbClr val="B45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2552700" y="3410992"/>
            <a:ext cx="15226284" cy="11275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400"/>
              </a:lnSpc>
              <a:buNone/>
            </a:pPr>
            <a:r>
              <a:rPr lang="en-US" sz="33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Checkpointer durável (Postgres ou SQLite), para retomar investigações entre processos.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952500" y="4919514"/>
            <a:ext cx="16383000" cy="9525"/>
          </a:xfrm>
          <a:prstGeom prst="rect">
            <a:avLst/>
          </a:prstGeom>
          <a:solidFill>
            <a:srgbClr val="D7D1C9"/>
          </a:solidFill>
          <a:ln/>
        </p:spPr>
      </p:sp>
      <p:sp>
        <p:nvSpPr>
          <p:cNvPr id="8" name="Text 6"/>
          <p:cNvSpPr/>
          <p:nvPr/>
        </p:nvSpPr>
        <p:spPr>
          <a:xfrm>
            <a:off x="952500" y="5395764"/>
            <a:ext cx="12192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300" dirty="0">
                <a:solidFill>
                  <a:srgbClr val="B45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2552700" y="5348139"/>
            <a:ext cx="16261080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400"/>
              </a:lnSpc>
              <a:buNone/>
            </a:pPr>
            <a:r>
              <a:rPr lang="en-US" sz="33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 tipologias de detecção, cada uma com sua consulta e seu caso de teste.</a:t>
            </a:r>
            <a:endParaRPr lang="en-US" sz="3300" dirty="0"/>
          </a:p>
        </p:txBody>
      </p:sp>
      <p:sp>
        <p:nvSpPr>
          <p:cNvPr id="10" name="Shape 8"/>
          <p:cNvSpPr/>
          <p:nvPr/>
        </p:nvSpPr>
        <p:spPr>
          <a:xfrm>
            <a:off x="952500" y="7704386"/>
            <a:ext cx="16383000" cy="9525"/>
          </a:xfrm>
          <a:prstGeom prst="rect">
            <a:avLst/>
          </a:prstGeom>
          <a:solidFill>
            <a:srgbClr val="D7D1C9"/>
          </a:solidFill>
          <a:ln/>
        </p:spPr>
      </p:sp>
      <p:sp>
        <p:nvSpPr>
          <p:cNvPr id="11" name="Shape 9"/>
          <p:cNvSpPr/>
          <p:nvPr/>
        </p:nvSpPr>
        <p:spPr>
          <a:xfrm>
            <a:off x="952500" y="6311950"/>
            <a:ext cx="16383000" cy="9525"/>
          </a:xfrm>
          <a:prstGeom prst="rect">
            <a:avLst/>
          </a:prstGeom>
          <a:solidFill>
            <a:srgbClr val="D7D1C9"/>
          </a:solidFill>
          <a:ln/>
        </p:spPr>
      </p:sp>
      <p:sp>
        <p:nvSpPr>
          <p:cNvPr id="12" name="Text 10"/>
          <p:cNvSpPr/>
          <p:nvPr/>
        </p:nvSpPr>
        <p:spPr>
          <a:xfrm>
            <a:off x="952500" y="6788200"/>
            <a:ext cx="12192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300" dirty="0">
                <a:solidFill>
                  <a:srgbClr val="B45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2552700" y="6740575"/>
            <a:ext cx="16261080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400"/>
              </a:lnSpc>
              <a:buNone/>
            </a:pPr>
            <a:r>
              <a:rPr lang="en-US" sz="33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Comparação sistemática de custo e qualidade entre provedores de LLM.</a:t>
            </a:r>
            <a:endParaRPr lang="en-US" sz="3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933450"/>
            <a:ext cx="190500" cy="190500"/>
          </a:xfrm>
          <a:prstGeom prst="roundRect">
            <a:avLst>
              <a:gd name="adj" fmla="val 20000"/>
            </a:avLst>
          </a:prstGeom>
          <a:solidFill>
            <a:srgbClr val="EC6F00"/>
          </a:solidFill>
          <a:ln/>
        </p:spPr>
      </p:sp>
      <p:sp>
        <p:nvSpPr>
          <p:cNvPr id="3" name="Text 1"/>
          <p:cNvSpPr/>
          <p:nvPr/>
        </p:nvSpPr>
        <p:spPr>
          <a:xfrm>
            <a:off x="1333500" y="914400"/>
            <a:ext cx="223301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spc="252" kern="0" dirty="0">
                <a:solidFill>
                  <a:srgbClr val="FF8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ENCERRAMENTO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3710136"/>
            <a:ext cx="15304770" cy="25067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366"/>
              </a:lnSpc>
              <a:buNone/>
            </a:pPr>
            <a:r>
              <a:rPr lang="en-US" sz="5400" b="1" spc="-108" kern="0" dirty="0">
                <a:solidFill>
                  <a:srgbClr val="F5F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Grafo para modelar a rede, LangGraph para orquestrar a decisão com estado e pausa real, LLM para interpretar a evidência.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952500" y="8745885"/>
            <a:ext cx="16383000" cy="9525"/>
          </a:xfrm>
          <a:prstGeom prst="rect">
            <a:avLst/>
          </a:prstGeom>
          <a:solidFill>
            <a:srgbClr val="3A3631"/>
          </a:solidFill>
          <a:ln/>
        </p:spPr>
      </p:sp>
      <p:sp>
        <p:nvSpPr>
          <p:cNvPr id="6" name="Text 4"/>
          <p:cNvSpPr/>
          <p:nvPr/>
        </p:nvSpPr>
        <p:spPr>
          <a:xfrm>
            <a:off x="952500" y="9022110"/>
            <a:ext cx="2145596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600"/>
              </a:lnSpc>
              <a:buNone/>
            </a:pPr>
            <a:r>
              <a:rPr lang="en-US" sz="3300" dirty="0">
                <a:solidFill>
                  <a:srgbClr val="F5F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Perguntas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13769280" y="9250710"/>
            <a:ext cx="3922841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1800" dirty="0">
                <a:solidFill>
                  <a:srgbClr val="B5AE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Waldyr Turquetti Gonçalves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2026-07-31T05:32:57Z</dcterms:created>
  <dcterms:modified xsi:type="dcterms:W3CDTF">2026-07-31T05:32:57Z</dcterms:modified>
</cp:coreProperties>
</file>